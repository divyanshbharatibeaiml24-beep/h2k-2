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63" r:id="rId2"/>
    <p:sldId id="257" r:id="rId3"/>
    <p:sldId id="264" r:id="rId4"/>
    <p:sldId id="261" r:id="rId5"/>
    <p:sldId id="260" r:id="rId6"/>
    <p:sldId id="265" r:id="rId7"/>
    <p:sldId id="259" r:id="rId8"/>
    <p:sldId id="258" r:id="rId9"/>
    <p:sldId id="256"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5" d="100"/>
          <a:sy n="75" d="100"/>
        </p:scale>
        <p:origin x="32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3D0A7F-27E4-40CE-BBE2-971821B234E2}" type="datetimeFigureOut">
              <a:rPr lang="en-IN" smtClean="0"/>
              <a:t>29-09-2026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F671A0-EC54-455D-A998-5A35D0E7D322}" type="slidenum">
              <a:rPr lang="en-IN" smtClean="0"/>
              <a:t>‹#›</a:t>
            </a:fld>
            <a:endParaRPr lang="en-IN"/>
          </a:p>
        </p:txBody>
      </p:sp>
    </p:spTree>
    <p:extLst>
      <p:ext uri="{BB962C8B-B14F-4D97-AF65-F5344CB8AC3E}">
        <p14:creationId xmlns:p14="http://schemas.microsoft.com/office/powerpoint/2010/main" val="3173178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16559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JANAVYUH converts citizen signals into connected civic evidence, predictive intelligence, scenario analysis, human-approved decisions, and verified outcomes. The workflow is shown as an editable slide using native PowerPoint shapes and text.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20340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77996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27242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9793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60412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084526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B4254EB5-A441-4433-A97E-297AE264C76C}"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70487A-A1A5-4F44-8128-8A4DA60EA506}" type="slidenum">
              <a:rPr lang="en-IN" smtClean="0"/>
              <a:t>‹#›</a:t>
            </a:fld>
            <a:endParaRPr lang="en-IN"/>
          </a:p>
        </p:txBody>
      </p:sp>
    </p:spTree>
    <p:extLst>
      <p:ext uri="{BB962C8B-B14F-4D97-AF65-F5344CB8AC3E}">
        <p14:creationId xmlns:p14="http://schemas.microsoft.com/office/powerpoint/2010/main" val="532210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4254EB5-A441-4433-A97E-297AE264C76C}"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70487A-A1A5-4F44-8128-8A4DA60EA506}" type="slidenum">
              <a:rPr lang="en-IN" smtClean="0"/>
              <a:t>‹#›</a:t>
            </a:fld>
            <a:endParaRPr lang="en-IN"/>
          </a:p>
        </p:txBody>
      </p:sp>
    </p:spTree>
    <p:extLst>
      <p:ext uri="{BB962C8B-B14F-4D97-AF65-F5344CB8AC3E}">
        <p14:creationId xmlns:p14="http://schemas.microsoft.com/office/powerpoint/2010/main" val="32472608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4254EB5-A441-4433-A97E-297AE264C76C}"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70487A-A1A5-4F44-8128-8A4DA60EA506}" type="slidenum">
              <a:rPr lang="en-IN" smtClean="0"/>
              <a:t>‹#›</a:t>
            </a:fld>
            <a:endParaRPr lang="en-IN"/>
          </a:p>
        </p:txBody>
      </p:sp>
    </p:spTree>
    <p:extLst>
      <p:ext uri="{BB962C8B-B14F-4D97-AF65-F5344CB8AC3E}">
        <p14:creationId xmlns:p14="http://schemas.microsoft.com/office/powerpoint/2010/main" val="1629505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B4254EB5-A441-4433-A97E-297AE264C76C}"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170487A-A1A5-4F44-8128-8A4DA60EA506}" type="slidenum">
              <a:rPr lang="en-IN" smtClean="0"/>
              <a:t>‹#›</a:t>
            </a:fld>
            <a:endParaRPr lang="en-IN"/>
          </a:p>
        </p:txBody>
      </p:sp>
    </p:spTree>
    <p:extLst>
      <p:ext uri="{BB962C8B-B14F-4D97-AF65-F5344CB8AC3E}">
        <p14:creationId xmlns:p14="http://schemas.microsoft.com/office/powerpoint/2010/main" val="1704393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B4254EB5-A441-4433-A97E-297AE264C76C}" type="datetimeFigureOut">
              <a:rPr lang="en-IN" smtClean="0"/>
              <a:t>29-09-2026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170487A-A1A5-4F44-8128-8A4DA60EA506}" type="slidenum">
              <a:rPr lang="en-IN" smtClean="0"/>
              <a:t>‹#›</a:t>
            </a:fld>
            <a:endParaRPr lang="en-IN"/>
          </a:p>
        </p:txBody>
      </p:sp>
    </p:spTree>
    <p:extLst>
      <p:ext uri="{BB962C8B-B14F-4D97-AF65-F5344CB8AC3E}">
        <p14:creationId xmlns:p14="http://schemas.microsoft.com/office/powerpoint/2010/main" val="3313751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B4254EB5-A441-4433-A97E-297AE264C76C}" type="datetimeFigureOut">
              <a:rPr lang="en-IN" smtClean="0"/>
              <a:t>29-09-2026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170487A-A1A5-4F44-8128-8A4DA60EA506}" type="slidenum">
              <a:rPr lang="en-IN" smtClean="0"/>
              <a:t>‹#›</a:t>
            </a:fld>
            <a:endParaRPr lang="en-IN"/>
          </a:p>
        </p:txBody>
      </p:sp>
    </p:spTree>
    <p:extLst>
      <p:ext uri="{BB962C8B-B14F-4D97-AF65-F5344CB8AC3E}">
        <p14:creationId xmlns:p14="http://schemas.microsoft.com/office/powerpoint/2010/main" val="3140481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254EB5-A441-4433-A97E-297AE264C76C}" type="datetimeFigureOut">
              <a:rPr lang="en-IN" smtClean="0"/>
              <a:t>29-09-2026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170487A-A1A5-4F44-8128-8A4DA60EA506}" type="slidenum">
              <a:rPr lang="en-IN" smtClean="0"/>
              <a:t>‹#›</a:t>
            </a:fld>
            <a:endParaRPr lang="en-IN"/>
          </a:p>
        </p:txBody>
      </p:sp>
    </p:spTree>
    <p:extLst>
      <p:ext uri="{BB962C8B-B14F-4D97-AF65-F5344CB8AC3E}">
        <p14:creationId xmlns:p14="http://schemas.microsoft.com/office/powerpoint/2010/main" val="555672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4254EB5-A441-4433-A97E-297AE264C76C}"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170487A-A1A5-4F44-8128-8A4DA60EA506}" type="slidenum">
              <a:rPr lang="en-IN" smtClean="0"/>
              <a:t>‹#›</a:t>
            </a:fld>
            <a:endParaRPr lang="en-IN"/>
          </a:p>
        </p:txBody>
      </p:sp>
    </p:spTree>
    <p:extLst>
      <p:ext uri="{BB962C8B-B14F-4D97-AF65-F5344CB8AC3E}">
        <p14:creationId xmlns:p14="http://schemas.microsoft.com/office/powerpoint/2010/main" val="3603134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4254EB5-A441-4433-A97E-297AE264C76C}"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170487A-A1A5-4F44-8128-8A4DA60EA506}" type="slidenum">
              <a:rPr lang="en-IN" smtClean="0"/>
              <a:t>‹#›</a:t>
            </a:fld>
            <a:endParaRPr lang="en-IN"/>
          </a:p>
        </p:txBody>
      </p:sp>
    </p:spTree>
    <p:extLst>
      <p:ext uri="{BB962C8B-B14F-4D97-AF65-F5344CB8AC3E}">
        <p14:creationId xmlns:p14="http://schemas.microsoft.com/office/powerpoint/2010/main" val="953625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4254EB5-A441-4433-A97E-297AE264C76C}"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70487A-A1A5-4F44-8128-8A4DA60EA506}" type="slidenum">
              <a:rPr lang="en-IN" smtClean="0"/>
              <a:t>‹#›</a:t>
            </a:fld>
            <a:endParaRPr lang="en-IN"/>
          </a:p>
        </p:txBody>
      </p:sp>
    </p:spTree>
    <p:extLst>
      <p:ext uri="{BB962C8B-B14F-4D97-AF65-F5344CB8AC3E}">
        <p14:creationId xmlns:p14="http://schemas.microsoft.com/office/powerpoint/2010/main" val="615630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4254EB5-A441-4433-A97E-297AE264C76C}"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70487A-A1A5-4F44-8128-8A4DA60EA506}" type="slidenum">
              <a:rPr lang="en-IN" smtClean="0"/>
              <a:t>‹#›</a:t>
            </a:fld>
            <a:endParaRPr lang="en-IN"/>
          </a:p>
        </p:txBody>
      </p:sp>
    </p:spTree>
    <p:extLst>
      <p:ext uri="{BB962C8B-B14F-4D97-AF65-F5344CB8AC3E}">
        <p14:creationId xmlns:p14="http://schemas.microsoft.com/office/powerpoint/2010/main" val="39342684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254EB5-A441-4433-A97E-297AE264C76C}" type="datetimeFigureOut">
              <a:rPr lang="en-IN" smtClean="0"/>
              <a:t>29-09-2026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70487A-A1A5-4F44-8128-8A4DA60EA506}" type="slidenum">
              <a:rPr lang="en-IN" smtClean="0"/>
              <a:t>‹#›</a:t>
            </a:fld>
            <a:endParaRPr lang="en-IN"/>
          </a:p>
        </p:txBody>
      </p:sp>
    </p:spTree>
    <p:extLst>
      <p:ext uri="{BB962C8B-B14F-4D97-AF65-F5344CB8AC3E}">
        <p14:creationId xmlns:p14="http://schemas.microsoft.com/office/powerpoint/2010/main" val="26434926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hyperlink" Target="https://www.worldbank.org/en/programs/govtech/gtmi-2025-update?utm_source=chatgpt.com" TargetMode="External"/><Relationship Id="rId2" Type="http://schemas.openxmlformats.org/officeDocument/2006/relationships/hyperlink" Target="https://www.worldbank.org/ext/en/topic/social-development/citizen-engagement" TargetMode="External"/><Relationship Id="rId1" Type="http://schemas.openxmlformats.org/officeDocument/2006/relationships/slideLayout" Target="../slideLayouts/slideLayout1.xml"/><Relationship Id="rId6" Type="http://schemas.openxmlformats.org/officeDocument/2006/relationships/hyperlink" Target="https://postgis.net/documentation/" TargetMode="External"/><Relationship Id="rId5" Type="http://schemas.openxmlformats.org/officeDocument/2006/relationships/hyperlink" Target="https://www.digitalpublicgoods.net/standard" TargetMode="External"/><Relationship Id="rId4" Type="http://schemas.openxmlformats.org/officeDocument/2006/relationships/hyperlink" Target="https://bhashini.gov.in/about-bhashini"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01;p22"/>
          <p:cNvSpPr txBox="1">
            <a:spLocks/>
          </p:cNvSpPr>
          <p:nvPr/>
        </p:nvSpPr>
        <p:spPr>
          <a:xfrm>
            <a:off x="-93438" y="2377936"/>
            <a:ext cx="11774400" cy="751488"/>
          </a:xfrm>
          <a:prstGeom prst="rect">
            <a:avLst/>
          </a:prstGeom>
          <a:noFill/>
          <a:ln>
            <a:noFill/>
          </a:ln>
          <a:effectLst>
            <a:glow rad="63500">
              <a:schemeClr val="accent1">
                <a:satMod val="175000"/>
                <a:alpha val="40000"/>
              </a:schemeClr>
            </a:glow>
          </a:effectLst>
        </p:spPr>
        <p:txBody>
          <a:bodyPr spcFirstLastPara="1" wrap="square" lIns="0" tIns="12700" rIns="0" bIns="0" anchor="b" anchorCtr="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lnSpc>
                <a:spcPct val="100000"/>
              </a:lnSpc>
              <a:spcBef>
                <a:spcPts val="0"/>
              </a:spcBef>
              <a:buClr>
                <a:srgbClr val="002060"/>
              </a:buClr>
              <a:buSzPts val="2800"/>
            </a:pPr>
            <a:r>
              <a:rPr lang="en-IN" sz="4800" b="1" i="1" dirty="0">
                <a:solidFill>
                  <a:schemeClr val="accent1">
                    <a:lumMod val="75000"/>
                  </a:schemeClr>
                </a:solidFill>
                <a:effectLst>
                  <a:outerShdw blurRad="38100" dist="38100" dir="2700000" algn="tl">
                    <a:srgbClr val="000000">
                      <a:alpha val="43137"/>
                    </a:srgbClr>
                  </a:outerShdw>
                </a:effectLst>
              </a:rPr>
              <a:t>JANAVYUH</a:t>
            </a:r>
            <a:endParaRPr lang="en-IN" sz="4800" b="1" i="1" dirty="0">
              <a:solidFill>
                <a:schemeClr val="accent1">
                  <a:lumMod val="75000"/>
                </a:schemeClr>
              </a:solidFill>
              <a:effectLst>
                <a:outerShdw blurRad="38100" dist="38100" dir="2700000" algn="tl">
                  <a:srgbClr val="000000">
                    <a:alpha val="43137"/>
                  </a:srgbClr>
                </a:outerShdw>
              </a:effectLst>
              <a:latin typeface="Tahoma"/>
              <a:ea typeface="Tahoma"/>
              <a:cs typeface="Tahoma"/>
              <a:sym typeface="Tahoma"/>
            </a:endParaRPr>
          </a:p>
        </p:txBody>
      </p:sp>
      <p:sp>
        <p:nvSpPr>
          <p:cNvPr id="3" name="Google Shape;102;p22"/>
          <p:cNvSpPr txBox="1"/>
          <p:nvPr/>
        </p:nvSpPr>
        <p:spPr>
          <a:xfrm>
            <a:off x="608262" y="3991073"/>
            <a:ext cx="11072700" cy="764312"/>
          </a:xfrm>
          <a:prstGeom prst="rect">
            <a:avLst/>
          </a:prstGeom>
          <a:noFill/>
          <a:ln>
            <a:noFill/>
          </a:ln>
        </p:spPr>
        <p:txBody>
          <a:bodyPr spcFirstLastPara="1" wrap="square" lIns="0" tIns="12700" rIns="0" bIns="0" anchor="t" anchorCtr="0">
            <a:spAutoFit/>
          </a:bodyPr>
          <a:lstStyle/>
          <a:p>
            <a:pPr marL="0" marR="0" lvl="0" indent="0" algn="ctr" rtl="0">
              <a:lnSpc>
                <a:spcPct val="100000"/>
              </a:lnSpc>
              <a:spcBef>
                <a:spcPts val="0"/>
              </a:spcBef>
              <a:spcAft>
                <a:spcPts val="0"/>
              </a:spcAft>
              <a:buNone/>
            </a:pPr>
            <a:r>
              <a:rPr lang="en-IN" sz="2400" b="1" i="0" u="none" strike="noStrike" cap="none" dirty="0">
                <a:solidFill>
                  <a:srgbClr val="00B0F0"/>
                </a:solidFill>
                <a:latin typeface="Tahoma"/>
                <a:ea typeface="Tahoma"/>
                <a:cs typeface="Tahoma"/>
                <a:sym typeface="Tahoma"/>
              </a:rPr>
              <a:t>Team </a:t>
            </a:r>
            <a:r>
              <a:rPr lang="en-IN" sz="2400" b="1" dirty="0">
                <a:solidFill>
                  <a:srgbClr val="00B0F0"/>
                </a:solidFill>
                <a:latin typeface="Tahoma"/>
                <a:ea typeface="Tahoma"/>
                <a:cs typeface="Tahoma"/>
                <a:sym typeface="Tahoma"/>
              </a:rPr>
              <a:t>N</a:t>
            </a:r>
            <a:r>
              <a:rPr lang="en-IN" sz="2400" b="1" i="0" u="none" strike="noStrike" cap="none" dirty="0">
                <a:solidFill>
                  <a:srgbClr val="00B0F0"/>
                </a:solidFill>
                <a:latin typeface="Tahoma"/>
                <a:ea typeface="Tahoma"/>
                <a:cs typeface="Tahoma"/>
                <a:sym typeface="Tahoma"/>
              </a:rPr>
              <a:t>ame: PARTH</a:t>
            </a:r>
            <a:endParaRPr dirty="0"/>
          </a:p>
          <a:p>
            <a:pPr lvl="0" algn="ctr">
              <a:spcBef>
                <a:spcPts val="100"/>
              </a:spcBef>
            </a:pPr>
            <a:r>
              <a:rPr lang="en-IN" sz="2400" b="1" i="0" u="none" strike="noStrike" cap="none" dirty="0" smtClean="0">
                <a:solidFill>
                  <a:schemeClr val="dk1"/>
                </a:solidFill>
                <a:latin typeface="Calibri"/>
                <a:ea typeface="Calibri"/>
                <a:cs typeface="Calibri"/>
                <a:sym typeface="Calibri"/>
              </a:rPr>
              <a:t> </a:t>
            </a:r>
            <a:r>
              <a:rPr lang="en-US" sz="2400" dirty="0"/>
              <a:t>Sovereign Civic Intelligence &amp; Public Investment Operating System</a:t>
            </a:r>
            <a:endParaRPr sz="2400" b="1" i="1" u="none" strike="noStrike" cap="none" dirty="0">
              <a:solidFill>
                <a:schemeClr val="dk1"/>
              </a:solidFill>
              <a:latin typeface="Tahoma"/>
              <a:ea typeface="Tahoma"/>
              <a:cs typeface="Tahoma"/>
              <a:sym typeface="Tahoma"/>
            </a:endParaRPr>
          </a:p>
        </p:txBody>
      </p:sp>
      <p:pic>
        <p:nvPicPr>
          <p:cNvPr id="4" name="Google Shape;103;p22"/>
          <p:cNvPicPr preferRelativeResize="0"/>
          <p:nvPr/>
        </p:nvPicPr>
        <p:blipFill rotWithShape="1">
          <a:blip r:embed="rId2">
            <a:alphaModFix amt="85000"/>
          </a:blip>
          <a:srcRect/>
          <a:stretch/>
        </p:blipFill>
        <p:spPr>
          <a:xfrm>
            <a:off x="0" y="5502840"/>
            <a:ext cx="1239505" cy="1355160"/>
          </a:xfrm>
          <a:prstGeom prst="rect">
            <a:avLst/>
          </a:prstGeom>
          <a:noFill/>
          <a:ln>
            <a:noFill/>
          </a:ln>
        </p:spPr>
      </p:pic>
      <p:pic>
        <p:nvPicPr>
          <p:cNvPr id="5" name="Google Shape;104;p22"/>
          <p:cNvPicPr preferRelativeResize="0"/>
          <p:nvPr/>
        </p:nvPicPr>
        <p:blipFill rotWithShape="1">
          <a:blip r:embed="rId3">
            <a:alphaModFix amt="85000"/>
          </a:blip>
          <a:srcRect/>
          <a:stretch/>
        </p:blipFill>
        <p:spPr>
          <a:xfrm>
            <a:off x="9706967" y="5727195"/>
            <a:ext cx="2485031" cy="1130804"/>
          </a:xfrm>
          <a:prstGeom prst="rect">
            <a:avLst/>
          </a:prstGeom>
          <a:noFill/>
          <a:ln>
            <a:noFill/>
          </a:ln>
        </p:spPr>
      </p:pic>
      <p:pic>
        <p:nvPicPr>
          <p:cNvPr id="6" name="Google Shape;105;p22"/>
          <p:cNvPicPr preferRelativeResize="0"/>
          <p:nvPr/>
        </p:nvPicPr>
        <p:blipFill rotWithShape="1">
          <a:blip r:embed="rId4">
            <a:alphaModFix amt="85000"/>
          </a:blip>
          <a:srcRect/>
          <a:stretch/>
        </p:blipFill>
        <p:spPr>
          <a:xfrm>
            <a:off x="10615793" y="-201712"/>
            <a:ext cx="1576207" cy="3061121"/>
          </a:xfrm>
          <a:prstGeom prst="rect">
            <a:avLst/>
          </a:prstGeom>
          <a:noFill/>
          <a:ln>
            <a:noFill/>
          </a:ln>
        </p:spPr>
      </p:pic>
      <p:pic>
        <p:nvPicPr>
          <p:cNvPr id="7" name="Google Shape;106;p22"/>
          <p:cNvPicPr preferRelativeResize="0"/>
          <p:nvPr/>
        </p:nvPicPr>
        <p:blipFill rotWithShape="1">
          <a:blip r:embed="rId5">
            <a:alphaModFix amt="85000"/>
          </a:blip>
          <a:srcRect/>
          <a:stretch/>
        </p:blipFill>
        <p:spPr>
          <a:xfrm>
            <a:off x="0" y="0"/>
            <a:ext cx="1805710" cy="3209789"/>
          </a:xfrm>
          <a:prstGeom prst="rect">
            <a:avLst/>
          </a:prstGeom>
          <a:noFill/>
          <a:ln>
            <a:noFill/>
          </a:ln>
        </p:spPr>
      </p:pic>
      <p:sp>
        <p:nvSpPr>
          <p:cNvPr id="8" name="Rectangle 7"/>
          <p:cNvSpPr/>
          <p:nvPr/>
        </p:nvSpPr>
        <p:spPr>
          <a:xfrm>
            <a:off x="2668015" y="6292597"/>
            <a:ext cx="6707092" cy="523220"/>
          </a:xfrm>
          <a:prstGeom prst="rect">
            <a:avLst/>
          </a:prstGeom>
        </p:spPr>
        <p:txBody>
          <a:bodyPr wrap="none">
            <a:spAutoFit/>
          </a:bodyPr>
          <a:lstStyle/>
          <a:p>
            <a:r>
              <a:rPr lang="en-US" sz="2800" dirty="0"/>
              <a:t>“From Every Voice to Verified Public Impact.”</a:t>
            </a:r>
            <a:endParaRPr lang="en-IN" sz="2800" dirty="0"/>
          </a:p>
        </p:txBody>
      </p:sp>
      <p:sp>
        <p:nvSpPr>
          <p:cNvPr id="10" name="Rectangle 9"/>
          <p:cNvSpPr/>
          <p:nvPr/>
        </p:nvSpPr>
        <p:spPr>
          <a:xfrm>
            <a:off x="3030220" y="509349"/>
            <a:ext cx="6418232" cy="523220"/>
          </a:xfrm>
          <a:prstGeom prst="rect">
            <a:avLst/>
          </a:prstGeom>
        </p:spPr>
        <p:txBody>
          <a:bodyPr wrap="none">
            <a:spAutoFit/>
          </a:bodyPr>
          <a:lstStyle/>
          <a:p>
            <a:r>
              <a:rPr lang="en-US" sz="2800" b="1" dirty="0">
                <a:solidFill>
                  <a:srgbClr val="1A1A1A"/>
                </a:solidFill>
                <a:effectLst>
                  <a:outerShdw blurRad="38100" dist="38100" dir="2700000" algn="tl">
                    <a:srgbClr val="000000">
                      <a:alpha val="43137"/>
                    </a:srgbClr>
                  </a:outerShdw>
                </a:effectLst>
                <a:latin typeface="Google Sans"/>
              </a:rPr>
              <a:t>Build with AI: Code for Communities</a:t>
            </a:r>
            <a:endParaRPr lang="en-IN" sz="2800" dirty="0">
              <a:effectLst>
                <a:outerShdw blurRad="38100" dist="38100" dir="2700000" algn="tl">
                  <a:srgbClr val="000000">
                    <a:alpha val="43137"/>
                  </a:srgbClr>
                </a:outerShdw>
              </a:effectLst>
            </a:endParaRPr>
          </a:p>
        </p:txBody>
      </p:sp>
      <p:pic>
        <p:nvPicPr>
          <p:cNvPr id="14" name="Picture 13"/>
          <p:cNvPicPr>
            <a:picLocks noChangeAspect="1"/>
          </p:cNvPicPr>
          <p:nvPr/>
        </p:nvPicPr>
        <p:blipFill rotWithShape="1">
          <a:blip r:embed="rId6">
            <a:extLst>
              <a:ext uri="{28A0092B-C50C-407E-A947-70E740481C1C}">
                <a14:useLocalDpi xmlns:a14="http://schemas.microsoft.com/office/drawing/2010/main" val="0"/>
              </a:ext>
            </a:extLst>
          </a:blip>
          <a:srcRect l="2424" t="2604" r="80556" b="51302"/>
          <a:stretch/>
        </p:blipFill>
        <p:spPr>
          <a:xfrm>
            <a:off x="2174240" y="2004379"/>
            <a:ext cx="1711960" cy="1498601"/>
          </a:xfrm>
          <a:prstGeom prst="rect">
            <a:avLst/>
          </a:prstGeom>
        </p:spPr>
      </p:pic>
    </p:spTree>
    <p:extLst>
      <p:ext uri="{BB962C8B-B14F-4D97-AF65-F5344CB8AC3E}">
        <p14:creationId xmlns:p14="http://schemas.microsoft.com/office/powerpoint/2010/main" val="918499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4"/>
          <p:cNvSpPr txBox="1">
            <a:spLocks noGrp="1"/>
          </p:cNvSpPr>
          <p:nvPr>
            <p:ph type="title"/>
          </p:nvPr>
        </p:nvSpPr>
        <p:spPr>
          <a:xfrm>
            <a:off x="1066799" y="100778"/>
            <a:ext cx="10058400" cy="743829"/>
          </a:xfrm>
          <a:prstGeom prst="rect">
            <a:avLst/>
          </a:prstGeom>
          <a:gradFill>
            <a:gsLst>
              <a:gs pos="0">
                <a:srgbClr val="F0AF8D"/>
              </a:gs>
              <a:gs pos="45000">
                <a:srgbClr val="F4BCA0"/>
              </a:gs>
              <a:gs pos="100000">
                <a:srgbClr val="FDC2A5"/>
              </a:gs>
            </a:gsLst>
            <a:path path="circle">
              <a:fillToRect l="50000" t="50000" r="50000" b="50000"/>
            </a:path>
            <a:tileRect/>
          </a:gradFill>
          <a:ln w="12700" cap="flat" cmpd="sng">
            <a:solidFill>
              <a:schemeClr val="accent1"/>
            </a:solidFill>
            <a:prstDash val="solid"/>
            <a:round/>
            <a:headEnd type="none" w="sm" len="sm"/>
            <a:tailEnd type="none" w="sm" len="sm"/>
          </a:ln>
        </p:spPr>
        <p:txBody>
          <a:bodyPr spcFirstLastPara="1" wrap="square" lIns="91425" tIns="45700" rIns="91425" bIns="45700" anchor="b" anchorCtr="0">
            <a:normAutofit/>
          </a:bodyPr>
          <a:lstStyle/>
          <a:p>
            <a:pPr lvl="0" algn="ctr">
              <a:lnSpc>
                <a:spcPct val="85000"/>
              </a:lnSpc>
              <a:spcBef>
                <a:spcPts val="0"/>
              </a:spcBef>
              <a:buClr>
                <a:schemeClr val="dk1"/>
              </a:buClr>
              <a:buSzPts val="4800"/>
            </a:pPr>
            <a:r>
              <a:rPr lang="en-US" b="1" dirty="0" smtClean="0">
                <a:latin typeface="+mn-lt"/>
              </a:rPr>
              <a:t>PROBLEM STATEMENT </a:t>
            </a:r>
            <a:endParaRPr lang="en-IN" b="1" dirty="0">
              <a:latin typeface="+mn-lt"/>
            </a:endParaRPr>
          </a:p>
        </p:txBody>
      </p:sp>
      <p:sp>
        <p:nvSpPr>
          <p:cNvPr id="153" name="Google Shape;153;p24"/>
          <p:cNvSpPr txBox="1"/>
          <p:nvPr/>
        </p:nvSpPr>
        <p:spPr>
          <a:xfrm>
            <a:off x="194732" y="890129"/>
            <a:ext cx="6028267" cy="2646838"/>
          </a:xfrm>
          <a:prstGeom prst="rect">
            <a:avLst/>
          </a:prstGeom>
          <a:noFill/>
          <a:ln>
            <a:solidFill>
              <a:schemeClr val="tx1"/>
            </a:solidFill>
          </a:ln>
        </p:spPr>
        <p:txBody>
          <a:bodyPr spcFirstLastPara="1" wrap="square" lIns="91425" tIns="45700" rIns="91425" bIns="45700" anchor="t" anchorCtr="0">
            <a:spAutoFit/>
          </a:bodyPr>
          <a:lstStyle/>
          <a:p>
            <a:pPr lvl="0">
              <a:buClr>
                <a:schemeClr val="dk1"/>
              </a:buClr>
              <a:buSzPts val="1400"/>
            </a:pPr>
            <a:r>
              <a:rPr lang="en-US" sz="2000" b="1" dirty="0" smtClean="0"/>
              <a:t> </a:t>
            </a:r>
            <a:r>
              <a:rPr lang="en-IN" sz="2000" b="1" dirty="0"/>
              <a:t>Core </a:t>
            </a:r>
            <a:r>
              <a:rPr lang="en-IN" sz="2000" b="1" dirty="0" smtClean="0"/>
              <a:t>Problem</a:t>
            </a:r>
          </a:p>
          <a:p>
            <a:pPr lvl="0">
              <a:buClr>
                <a:schemeClr val="dk1"/>
              </a:buClr>
              <a:buSzPts val="1400"/>
            </a:pPr>
            <a:endParaRPr lang="en-IN" sz="2000" b="1" dirty="0" smtClean="0"/>
          </a:p>
          <a:p>
            <a:pPr marL="342900" lvl="0" indent="-342900">
              <a:buClr>
                <a:schemeClr val="dk1"/>
              </a:buClr>
              <a:buSzPts val="1400"/>
              <a:buFont typeface="Arial" panose="020B0604020202020204" pitchFamily="34" charset="0"/>
              <a:buChar char="•"/>
            </a:pPr>
            <a:r>
              <a:rPr lang="en-US" sz="1400" dirty="0" smtClean="0"/>
              <a:t>Requests </a:t>
            </a:r>
            <a:r>
              <a:rPr lang="en-US" sz="1400" dirty="0"/>
              <a:t>for development by citizens reach governments via voice, messaging services, portals, hotlines, and even local mechanisms, but these messages are generally scattered between different departments and data systems.</a:t>
            </a:r>
          </a:p>
          <a:p>
            <a:pPr lvl="0">
              <a:buClr>
                <a:schemeClr val="dk1"/>
              </a:buClr>
              <a:buSzPts val="1400"/>
            </a:pPr>
            <a:endParaRPr lang="en-US" sz="1400" b="1" dirty="0"/>
          </a:p>
          <a:p>
            <a:pPr marL="342900" lvl="0" indent="-342900">
              <a:buClr>
                <a:schemeClr val="dk1"/>
              </a:buClr>
              <a:buSzPts val="1400"/>
              <a:buFont typeface="Arial" panose="020B0604020202020204" pitchFamily="34" charset="0"/>
              <a:buChar char="•"/>
            </a:pPr>
            <a:r>
              <a:rPr lang="en-US" sz="1400" dirty="0"/>
              <a:t>Meanwhile, citizens' comments, demographic information, state of infrastructure, and investment programs do not naturally link up, which makes it hard to determine the actual requirement, analyze competing alternatives, and evaluate the results once the intervention is implemented.</a:t>
            </a:r>
            <a:endParaRPr lang="en-US" sz="1400" dirty="0" smtClean="0"/>
          </a:p>
        </p:txBody>
      </p:sp>
      <p:sp>
        <p:nvSpPr>
          <p:cNvPr id="2" name="Rectangle 1"/>
          <p:cNvSpPr/>
          <p:nvPr/>
        </p:nvSpPr>
        <p:spPr>
          <a:xfrm>
            <a:off x="6324600" y="890129"/>
            <a:ext cx="5689600" cy="4047262"/>
          </a:xfrm>
          <a:prstGeom prst="rect">
            <a:avLst/>
          </a:prstGeom>
          <a:ln>
            <a:solidFill>
              <a:schemeClr val="tx1"/>
            </a:solidFill>
          </a:ln>
        </p:spPr>
        <p:txBody>
          <a:bodyPr wrap="square">
            <a:spAutoFit/>
          </a:bodyPr>
          <a:lstStyle/>
          <a:p>
            <a:r>
              <a:rPr lang="en-IN" b="1" dirty="0"/>
              <a:t>Critical </a:t>
            </a:r>
            <a:r>
              <a:rPr lang="en-IN" b="1" dirty="0" smtClean="0"/>
              <a:t>Gaps</a:t>
            </a:r>
          </a:p>
          <a:p>
            <a:r>
              <a:rPr lang="en-IN" sz="1400" dirty="0" smtClean="0"/>
              <a:t/>
            </a:r>
            <a:br>
              <a:rPr lang="en-IN" sz="1400" dirty="0" smtClean="0"/>
            </a:br>
            <a:r>
              <a:rPr lang="en-US" sz="1500" dirty="0"/>
              <a:t>01 – Fragmented Feedback</a:t>
            </a:r>
          </a:p>
          <a:p>
            <a:r>
              <a:rPr lang="en-US" sz="1500" dirty="0"/>
              <a:t>The requirements of citizens are fragmented into different mediums, languages, and departments.</a:t>
            </a:r>
          </a:p>
          <a:p>
            <a:endParaRPr lang="en-US" sz="1500" dirty="0"/>
          </a:p>
          <a:p>
            <a:r>
              <a:rPr lang="en-US" sz="1500" dirty="0"/>
              <a:t>02 – Volume of Complaints ≠ Needs</a:t>
            </a:r>
          </a:p>
          <a:p>
            <a:r>
              <a:rPr lang="en-US" sz="1500" dirty="0"/>
              <a:t>The digitally connected citizenry might have more feedback, while the under-connected might not be heard.</a:t>
            </a:r>
          </a:p>
          <a:p>
            <a:endParaRPr lang="en-US" sz="1500" dirty="0"/>
          </a:p>
          <a:p>
            <a:r>
              <a:rPr lang="en-US" sz="1500" dirty="0"/>
              <a:t>03 – Reactionary </a:t>
            </a:r>
            <a:r>
              <a:rPr lang="en-US" sz="1500" dirty="0" err="1"/>
              <a:t>Planing</a:t>
            </a:r>
            <a:endParaRPr lang="en-US" sz="1500" dirty="0"/>
          </a:p>
          <a:p>
            <a:r>
              <a:rPr lang="en-US" sz="1500" dirty="0"/>
              <a:t>Current planning may provide today’s problems but not the future pressures on infrastructure.</a:t>
            </a:r>
          </a:p>
          <a:p>
            <a:endParaRPr lang="en-US" sz="1500" dirty="0"/>
          </a:p>
          <a:p>
            <a:r>
              <a:rPr lang="en-US" sz="1500" dirty="0"/>
              <a:t>04 – Project Complete ≠ Service Outcome</a:t>
            </a:r>
          </a:p>
          <a:p>
            <a:r>
              <a:rPr lang="en-US" sz="1500" dirty="0"/>
              <a:t>Projects deemed ‘complete’ do not equate to improvements in the outcome of services.</a:t>
            </a:r>
            <a:endParaRPr lang="en-IN" sz="1500" dirty="0"/>
          </a:p>
        </p:txBody>
      </p:sp>
      <p:sp>
        <p:nvSpPr>
          <p:cNvPr id="4" name="Rectangle 3"/>
          <p:cNvSpPr/>
          <p:nvPr/>
        </p:nvSpPr>
        <p:spPr>
          <a:xfrm>
            <a:off x="194733" y="3582489"/>
            <a:ext cx="6028267" cy="3170099"/>
          </a:xfrm>
          <a:prstGeom prst="rect">
            <a:avLst/>
          </a:prstGeom>
          <a:ln>
            <a:solidFill>
              <a:schemeClr val="tx1"/>
            </a:solidFill>
          </a:ln>
        </p:spPr>
        <p:txBody>
          <a:bodyPr wrap="square">
            <a:spAutoFit/>
          </a:bodyPr>
          <a:lstStyle/>
          <a:p>
            <a:r>
              <a:rPr lang="en-IN" b="1" dirty="0"/>
              <a:t>RELEVANT CONSEQUENCES</a:t>
            </a:r>
          </a:p>
          <a:p>
            <a:endParaRPr lang="en-IN" sz="1400" dirty="0"/>
          </a:p>
          <a:p>
            <a:r>
              <a:rPr lang="en-IN" sz="1400" dirty="0"/>
              <a:t>01 – Unseen Infrastructure Requirements</a:t>
            </a:r>
          </a:p>
          <a:p>
            <a:r>
              <a:rPr lang="en-IN" sz="1400" dirty="0"/>
              <a:t>Even when there is a shortage of services, places with low reporting levels may remain unnoticed.</a:t>
            </a:r>
          </a:p>
          <a:p>
            <a:endParaRPr lang="en-IN" sz="1400" dirty="0"/>
          </a:p>
          <a:p>
            <a:r>
              <a:rPr lang="en-IN" sz="1400" dirty="0"/>
              <a:t>02 – Poor Resource Prioritizing</a:t>
            </a:r>
          </a:p>
          <a:p>
            <a:r>
              <a:rPr lang="en-IN" sz="1400" dirty="0"/>
              <a:t>Due to lack of an evidence layer, planners are forced to </a:t>
            </a:r>
            <a:r>
              <a:rPr lang="en-IN" sz="1400" dirty="0" err="1"/>
              <a:t>analyze</a:t>
            </a:r>
            <a:r>
              <a:rPr lang="en-IN" sz="1400" dirty="0"/>
              <a:t> needs using separate data sets.</a:t>
            </a:r>
          </a:p>
          <a:p>
            <a:endParaRPr lang="en-IN" sz="1400" dirty="0"/>
          </a:p>
          <a:p>
            <a:r>
              <a:rPr lang="en-IN" sz="1400" dirty="0"/>
              <a:t>03 – Overlooked Demands of the Future</a:t>
            </a:r>
          </a:p>
          <a:p>
            <a:r>
              <a:rPr lang="en-IN" sz="1400" dirty="0"/>
              <a:t>Focusing on existing demands does not consider any future demands due to population and service changes.</a:t>
            </a:r>
          </a:p>
          <a:p>
            <a:endParaRPr lang="en-IN" sz="1400" dirty="0"/>
          </a:p>
        </p:txBody>
      </p:sp>
      <p:sp>
        <p:nvSpPr>
          <p:cNvPr id="5" name="Rectangle 4"/>
          <p:cNvSpPr/>
          <p:nvPr/>
        </p:nvSpPr>
        <p:spPr>
          <a:xfrm>
            <a:off x="6324600" y="5147149"/>
            <a:ext cx="5689600" cy="1338828"/>
          </a:xfrm>
          <a:prstGeom prst="rect">
            <a:avLst/>
          </a:prstGeom>
          <a:ln>
            <a:solidFill>
              <a:schemeClr val="tx1"/>
            </a:solidFill>
          </a:ln>
        </p:spPr>
        <p:txBody>
          <a:bodyPr wrap="square">
            <a:spAutoFit/>
          </a:bodyPr>
          <a:lstStyle/>
          <a:p>
            <a:r>
              <a:rPr lang="en-IN" b="1" dirty="0"/>
              <a:t>DECISION </a:t>
            </a:r>
            <a:r>
              <a:rPr lang="en-IN" b="1" dirty="0" smtClean="0"/>
              <a:t>NEED</a:t>
            </a:r>
          </a:p>
          <a:p>
            <a:r>
              <a:rPr lang="en-IN" dirty="0" smtClean="0"/>
              <a:t/>
            </a:r>
            <a:br>
              <a:rPr lang="en-IN" dirty="0" smtClean="0"/>
            </a:br>
            <a:r>
              <a:rPr lang="en-US" sz="1500" dirty="0"/>
              <a:t>Governments need a unified intelligence layer that can connect citizen needs with infrastructure gaps, future demand, investment constraints, and measurable outcomes for evidence-based planning.</a:t>
            </a:r>
            <a:endParaRPr lang="en-IN" sz="1500" dirty="0"/>
          </a:p>
        </p:txBody>
      </p:sp>
    </p:spTree>
    <p:extLst>
      <p:ext uri="{BB962C8B-B14F-4D97-AF65-F5344CB8AC3E}">
        <p14:creationId xmlns:p14="http://schemas.microsoft.com/office/powerpoint/2010/main" val="2872383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9728" y="854964"/>
            <a:ext cx="3482685" cy="353943"/>
          </a:xfrm>
          <a:prstGeom prst="rect">
            <a:avLst/>
          </a:prstGeom>
          <a:noFill/>
        </p:spPr>
        <p:txBody>
          <a:bodyPr wrap="none">
            <a:spAutoFit/>
          </a:bodyPr>
          <a:lstStyle/>
          <a:p>
            <a:pPr>
              <a:defRPr sz="1700" b="1">
                <a:solidFill>
                  <a:srgbClr val="0E3D70"/>
                </a:solidFill>
                <a:latin typeface="Aptos"/>
              </a:defRPr>
            </a:pPr>
            <a:r>
              <a:rPr dirty="0"/>
              <a:t>THE JANAVYUH </a:t>
            </a:r>
            <a:r>
              <a:rPr dirty="0" smtClean="0"/>
              <a:t>LOOP</a:t>
            </a:r>
            <a:r>
              <a:rPr lang="en-US" dirty="0" smtClean="0"/>
              <a:t> STAGES</a:t>
            </a:r>
            <a:endParaRPr dirty="0"/>
          </a:p>
        </p:txBody>
      </p:sp>
      <p:sp>
        <p:nvSpPr>
          <p:cNvPr id="7" name="Rounded Rectangle 6"/>
          <p:cNvSpPr/>
          <p:nvPr/>
        </p:nvSpPr>
        <p:spPr>
          <a:xfrm>
            <a:off x="298873" y="1474216"/>
            <a:ext cx="1051560" cy="1481328"/>
          </a:xfrm>
          <a:prstGeom prst="roundRect">
            <a:avLst/>
          </a:prstGeom>
          <a:solidFill>
            <a:srgbClr val="FFFFFF"/>
          </a:solidFill>
          <a:ln w="22860">
            <a:solidFill>
              <a:srgbClr val="498FCD"/>
            </a:solidFill>
          </a:ln>
        </p:spPr>
        <p:style>
          <a:lnRef idx="1">
            <a:schemeClr val="accent1"/>
          </a:lnRef>
          <a:fillRef idx="3">
            <a:schemeClr val="accent1"/>
          </a:fillRef>
          <a:effectRef idx="2">
            <a:schemeClr val="accent1"/>
          </a:effectRef>
          <a:fontRef idx="minor">
            <a:schemeClr val="lt1"/>
          </a:fontRef>
        </p:style>
        <p:txBody>
          <a:bodyPr lIns="64008" tIns="173736" rIns="64008" rtlCol="0" anchor="ctr"/>
          <a:lstStyle/>
          <a:p>
            <a:pPr algn="ctr"/>
            <a:r>
              <a:rPr sz="950" b="1" dirty="0">
                <a:solidFill>
                  <a:srgbClr val="1C2536"/>
                </a:solidFill>
              </a:rPr>
              <a:t>HEAR</a:t>
            </a:r>
          </a:p>
          <a:p>
            <a:pPr algn="ctr">
              <a:spcBef>
                <a:spcPts val="500"/>
              </a:spcBef>
            </a:pPr>
            <a:r>
              <a:rPr sz="800" dirty="0">
                <a:solidFill>
                  <a:srgbClr val="566372"/>
                </a:solidFill>
              </a:rPr>
              <a:t>Voice • WhatsApp • IVR
SMS • USSD • Web • Kiosk</a:t>
            </a:r>
          </a:p>
        </p:txBody>
      </p:sp>
      <p:sp>
        <p:nvSpPr>
          <p:cNvPr id="8" name="Oval 7"/>
          <p:cNvSpPr/>
          <p:nvPr/>
        </p:nvSpPr>
        <p:spPr>
          <a:xfrm>
            <a:off x="562357" y="1300310"/>
            <a:ext cx="438912" cy="365760"/>
          </a:xfrm>
          <a:prstGeom prst="ellipse">
            <a:avLst/>
          </a:prstGeom>
          <a:solidFill>
            <a:srgbClr val="498FCD"/>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rPr dirty="0"/>
              <a:t>01</a:t>
            </a:r>
          </a:p>
        </p:txBody>
      </p:sp>
      <p:sp>
        <p:nvSpPr>
          <p:cNvPr id="9" name="Rounded Rectangle 8"/>
          <p:cNvSpPr/>
          <p:nvPr/>
        </p:nvSpPr>
        <p:spPr>
          <a:xfrm>
            <a:off x="1583352" y="1485392"/>
            <a:ext cx="1051560" cy="1481328"/>
          </a:xfrm>
          <a:prstGeom prst="roundRect">
            <a:avLst/>
          </a:prstGeom>
          <a:solidFill>
            <a:srgbClr val="FFFFFF"/>
          </a:solidFill>
          <a:ln w="22860">
            <a:solidFill>
              <a:srgbClr val="14A9D4"/>
            </a:solidFill>
          </a:ln>
        </p:spPr>
        <p:style>
          <a:lnRef idx="1">
            <a:schemeClr val="accent1"/>
          </a:lnRef>
          <a:fillRef idx="3">
            <a:schemeClr val="accent1"/>
          </a:fillRef>
          <a:effectRef idx="2">
            <a:schemeClr val="accent1"/>
          </a:effectRef>
          <a:fontRef idx="minor">
            <a:schemeClr val="lt1"/>
          </a:fontRef>
        </p:style>
        <p:txBody>
          <a:bodyPr lIns="64008" tIns="173736" rIns="64008" rtlCol="0" anchor="ctr"/>
          <a:lstStyle/>
          <a:p>
            <a:pPr algn="ctr"/>
            <a:r>
              <a:rPr sz="950" b="1">
                <a:solidFill>
                  <a:srgbClr val="1C2536"/>
                </a:solidFill>
              </a:rPr>
              <a:t>UNDERSTAND</a:t>
            </a:r>
          </a:p>
          <a:p>
            <a:pPr algn="ctr">
              <a:spcBef>
                <a:spcPts val="500"/>
              </a:spcBef>
            </a:pPr>
            <a:r>
              <a:rPr sz="800">
                <a:solidFill>
                  <a:srgbClr val="566372"/>
                </a:solidFill>
              </a:rPr>
              <a:t>Multilingual AI extracts
intent • place • urgency</a:t>
            </a:r>
          </a:p>
        </p:txBody>
      </p:sp>
      <p:sp>
        <p:nvSpPr>
          <p:cNvPr id="10" name="Oval 9"/>
          <p:cNvSpPr/>
          <p:nvPr/>
        </p:nvSpPr>
        <p:spPr>
          <a:xfrm>
            <a:off x="1889676" y="1300310"/>
            <a:ext cx="438912" cy="365760"/>
          </a:xfrm>
          <a:prstGeom prst="ellipse">
            <a:avLst/>
          </a:prstGeom>
          <a:solidFill>
            <a:srgbClr val="14A9D4"/>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t>02</a:t>
            </a:r>
          </a:p>
        </p:txBody>
      </p:sp>
      <p:sp>
        <p:nvSpPr>
          <p:cNvPr id="11" name="Rounded Rectangle 10"/>
          <p:cNvSpPr/>
          <p:nvPr/>
        </p:nvSpPr>
        <p:spPr>
          <a:xfrm>
            <a:off x="2866644" y="1513332"/>
            <a:ext cx="1051560" cy="1481328"/>
          </a:xfrm>
          <a:prstGeom prst="roundRect">
            <a:avLst/>
          </a:prstGeom>
          <a:solidFill>
            <a:srgbClr val="FFFFFF"/>
          </a:solidFill>
          <a:ln w="22860">
            <a:solidFill>
              <a:srgbClr val="CA570B"/>
            </a:solidFill>
          </a:ln>
        </p:spPr>
        <p:style>
          <a:lnRef idx="1">
            <a:schemeClr val="accent1"/>
          </a:lnRef>
          <a:fillRef idx="3">
            <a:schemeClr val="accent1"/>
          </a:fillRef>
          <a:effectRef idx="2">
            <a:schemeClr val="accent1"/>
          </a:effectRef>
          <a:fontRef idx="minor">
            <a:schemeClr val="lt1"/>
          </a:fontRef>
        </p:style>
        <p:txBody>
          <a:bodyPr lIns="64008" tIns="173736" rIns="64008" rtlCol="0" anchor="ctr"/>
          <a:lstStyle/>
          <a:p>
            <a:pPr algn="ctr"/>
            <a:r>
              <a:rPr sz="950" b="1">
                <a:solidFill>
                  <a:srgbClr val="1C2536"/>
                </a:solidFill>
              </a:rPr>
              <a:t>CONNECT</a:t>
            </a:r>
          </a:p>
          <a:p>
            <a:pPr algn="ctr">
              <a:spcBef>
                <a:spcPts val="500"/>
              </a:spcBef>
            </a:pPr>
            <a:r>
              <a:rPr sz="800">
                <a:solidFill>
                  <a:srgbClr val="566372"/>
                </a:solidFill>
              </a:rPr>
              <a:t>Civic Need Graph +
Infrastructure Asset Graph</a:t>
            </a:r>
          </a:p>
        </p:txBody>
      </p:sp>
      <p:sp>
        <p:nvSpPr>
          <p:cNvPr id="12" name="Oval 11"/>
          <p:cNvSpPr/>
          <p:nvPr/>
        </p:nvSpPr>
        <p:spPr>
          <a:xfrm>
            <a:off x="3133260" y="1311656"/>
            <a:ext cx="438912" cy="365760"/>
          </a:xfrm>
          <a:prstGeom prst="ellipse">
            <a:avLst/>
          </a:prstGeom>
          <a:solidFill>
            <a:srgbClr val="CA570B"/>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t>03</a:t>
            </a:r>
          </a:p>
        </p:txBody>
      </p:sp>
      <p:sp>
        <p:nvSpPr>
          <p:cNvPr id="13" name="Rounded Rectangle 12"/>
          <p:cNvSpPr/>
          <p:nvPr/>
        </p:nvSpPr>
        <p:spPr>
          <a:xfrm>
            <a:off x="4117849" y="1503512"/>
            <a:ext cx="1051560" cy="1481328"/>
          </a:xfrm>
          <a:prstGeom prst="roundRect">
            <a:avLst/>
          </a:prstGeom>
          <a:solidFill>
            <a:srgbClr val="FFFFFF"/>
          </a:solidFill>
          <a:ln w="22860">
            <a:solidFill>
              <a:srgbClr val="6F3AA7"/>
            </a:solidFill>
          </a:ln>
        </p:spPr>
        <p:style>
          <a:lnRef idx="1">
            <a:schemeClr val="accent1"/>
          </a:lnRef>
          <a:fillRef idx="3">
            <a:schemeClr val="accent1"/>
          </a:fillRef>
          <a:effectRef idx="2">
            <a:schemeClr val="accent1"/>
          </a:effectRef>
          <a:fontRef idx="minor">
            <a:schemeClr val="lt1"/>
          </a:fontRef>
        </p:style>
        <p:txBody>
          <a:bodyPr lIns="64008" tIns="173736" rIns="64008" rtlCol="0" anchor="ctr"/>
          <a:lstStyle/>
          <a:p>
            <a:pPr algn="ctr"/>
            <a:r>
              <a:rPr sz="950" b="1">
                <a:solidFill>
                  <a:srgbClr val="1C2536"/>
                </a:solidFill>
              </a:rPr>
              <a:t>DISCOVER</a:t>
            </a:r>
          </a:p>
          <a:p>
            <a:pPr algn="ctr">
              <a:spcBef>
                <a:spcPts val="500"/>
              </a:spcBef>
            </a:pPr>
            <a:r>
              <a:rPr sz="800">
                <a:solidFill>
                  <a:srgbClr val="566372"/>
                </a:solidFill>
              </a:rPr>
              <a:t>Hotspots • Silent Zones
Anomalies • hidden needs</a:t>
            </a:r>
          </a:p>
        </p:txBody>
      </p:sp>
      <p:sp>
        <p:nvSpPr>
          <p:cNvPr id="14" name="Oval 13"/>
          <p:cNvSpPr/>
          <p:nvPr/>
        </p:nvSpPr>
        <p:spPr>
          <a:xfrm>
            <a:off x="4421124" y="1311656"/>
            <a:ext cx="438912" cy="365760"/>
          </a:xfrm>
          <a:prstGeom prst="ellipse">
            <a:avLst/>
          </a:prstGeom>
          <a:solidFill>
            <a:srgbClr val="6F3AA7"/>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t>04</a:t>
            </a:r>
          </a:p>
        </p:txBody>
      </p:sp>
      <p:sp>
        <p:nvSpPr>
          <p:cNvPr id="15" name="Rounded Rectangle 14"/>
          <p:cNvSpPr/>
          <p:nvPr/>
        </p:nvSpPr>
        <p:spPr>
          <a:xfrm>
            <a:off x="5303520" y="1495044"/>
            <a:ext cx="1051560" cy="1481328"/>
          </a:xfrm>
          <a:prstGeom prst="roundRect">
            <a:avLst/>
          </a:prstGeom>
          <a:solidFill>
            <a:srgbClr val="FFFFFF"/>
          </a:solidFill>
          <a:ln w="22860">
            <a:solidFill>
              <a:srgbClr val="7E93AB"/>
            </a:solidFill>
          </a:ln>
        </p:spPr>
        <p:style>
          <a:lnRef idx="1">
            <a:schemeClr val="accent1"/>
          </a:lnRef>
          <a:fillRef idx="3">
            <a:schemeClr val="accent1"/>
          </a:fillRef>
          <a:effectRef idx="2">
            <a:schemeClr val="accent1"/>
          </a:effectRef>
          <a:fontRef idx="minor">
            <a:schemeClr val="lt1"/>
          </a:fontRef>
        </p:style>
        <p:txBody>
          <a:bodyPr lIns="64008" tIns="173736" rIns="64008" rtlCol="0" anchor="ctr"/>
          <a:lstStyle/>
          <a:p>
            <a:pPr algn="ctr"/>
            <a:r>
              <a:rPr sz="950" b="1">
                <a:solidFill>
                  <a:srgbClr val="1C2536"/>
                </a:solidFill>
              </a:rPr>
              <a:t>PREDICT</a:t>
            </a:r>
          </a:p>
          <a:p>
            <a:pPr algn="ctr">
              <a:spcBef>
                <a:spcPts val="500"/>
              </a:spcBef>
            </a:pPr>
            <a:r>
              <a:rPr sz="800">
                <a:solidFill>
                  <a:srgbClr val="566372"/>
                </a:solidFill>
              </a:rPr>
              <a:t>Future demand +
infrastructure stress</a:t>
            </a:r>
          </a:p>
        </p:txBody>
      </p:sp>
      <p:sp>
        <p:nvSpPr>
          <p:cNvPr id="16" name="Oval 15"/>
          <p:cNvSpPr/>
          <p:nvPr/>
        </p:nvSpPr>
        <p:spPr>
          <a:xfrm>
            <a:off x="5579449" y="1291590"/>
            <a:ext cx="438912" cy="365760"/>
          </a:xfrm>
          <a:prstGeom prst="ellipse">
            <a:avLst/>
          </a:prstGeom>
          <a:solidFill>
            <a:srgbClr val="7E93AB"/>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t>05</a:t>
            </a:r>
          </a:p>
        </p:txBody>
      </p:sp>
      <p:sp>
        <p:nvSpPr>
          <p:cNvPr id="17" name="Rounded Rectangle 16"/>
          <p:cNvSpPr/>
          <p:nvPr/>
        </p:nvSpPr>
        <p:spPr>
          <a:xfrm>
            <a:off x="6500874" y="1502326"/>
            <a:ext cx="1051560" cy="1481328"/>
          </a:xfrm>
          <a:prstGeom prst="roundRect">
            <a:avLst/>
          </a:prstGeom>
          <a:solidFill>
            <a:srgbClr val="FFFFFF"/>
          </a:solidFill>
          <a:ln w="22860">
            <a:solidFill>
              <a:srgbClr val="5AAF71"/>
            </a:solidFill>
          </a:ln>
        </p:spPr>
        <p:style>
          <a:lnRef idx="1">
            <a:schemeClr val="accent1"/>
          </a:lnRef>
          <a:fillRef idx="3">
            <a:schemeClr val="accent1"/>
          </a:fillRef>
          <a:effectRef idx="2">
            <a:schemeClr val="accent1"/>
          </a:effectRef>
          <a:fontRef idx="minor">
            <a:schemeClr val="lt1"/>
          </a:fontRef>
        </p:style>
        <p:txBody>
          <a:bodyPr lIns="64008" tIns="173736" rIns="64008" rtlCol="0" anchor="ctr"/>
          <a:lstStyle/>
          <a:p>
            <a:pPr algn="ctr"/>
            <a:r>
              <a:rPr sz="950" b="1">
                <a:solidFill>
                  <a:srgbClr val="1C2536"/>
                </a:solidFill>
              </a:rPr>
              <a:t>SIMULATE</a:t>
            </a:r>
          </a:p>
          <a:p>
            <a:pPr algn="ctr">
              <a:spcBef>
                <a:spcPts val="500"/>
              </a:spcBef>
            </a:pPr>
            <a:r>
              <a:rPr sz="800">
                <a:solidFill>
                  <a:srgbClr val="566372"/>
                </a:solidFill>
              </a:rPr>
              <a:t>Alternative projects +
budget scenarios</a:t>
            </a:r>
          </a:p>
        </p:txBody>
      </p:sp>
      <p:sp>
        <p:nvSpPr>
          <p:cNvPr id="18" name="Oval 17"/>
          <p:cNvSpPr/>
          <p:nvPr/>
        </p:nvSpPr>
        <p:spPr>
          <a:xfrm>
            <a:off x="6767069" y="1282871"/>
            <a:ext cx="438912" cy="365760"/>
          </a:xfrm>
          <a:prstGeom prst="ellipse">
            <a:avLst/>
          </a:prstGeom>
          <a:solidFill>
            <a:srgbClr val="5AAF71"/>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t>06</a:t>
            </a:r>
          </a:p>
        </p:txBody>
      </p:sp>
      <p:sp>
        <p:nvSpPr>
          <p:cNvPr id="19" name="Rounded Rectangle 18"/>
          <p:cNvSpPr/>
          <p:nvPr/>
        </p:nvSpPr>
        <p:spPr>
          <a:xfrm>
            <a:off x="880111" y="3164332"/>
            <a:ext cx="1051560" cy="1481328"/>
          </a:xfrm>
          <a:prstGeom prst="roundRect">
            <a:avLst/>
          </a:prstGeom>
          <a:solidFill>
            <a:srgbClr val="FFFFFF"/>
          </a:solidFill>
          <a:ln w="22860">
            <a:solidFill>
              <a:srgbClr val="F5D064"/>
            </a:solidFill>
          </a:ln>
        </p:spPr>
        <p:style>
          <a:lnRef idx="1">
            <a:schemeClr val="accent1"/>
          </a:lnRef>
          <a:fillRef idx="3">
            <a:schemeClr val="accent1"/>
          </a:fillRef>
          <a:effectRef idx="2">
            <a:schemeClr val="accent1"/>
          </a:effectRef>
          <a:fontRef idx="minor">
            <a:schemeClr val="lt1"/>
          </a:fontRef>
        </p:style>
        <p:txBody>
          <a:bodyPr lIns="64008" tIns="173736" rIns="64008" rtlCol="0" anchor="ctr"/>
          <a:lstStyle/>
          <a:p>
            <a:pPr algn="ctr"/>
            <a:r>
              <a:rPr sz="950" b="1">
                <a:solidFill>
                  <a:srgbClr val="1C2536"/>
                </a:solidFill>
              </a:rPr>
              <a:t>NEGOTIATE</a:t>
            </a:r>
          </a:p>
          <a:p>
            <a:pPr algn="ctr">
              <a:spcBef>
                <a:spcPts val="500"/>
              </a:spcBef>
            </a:pPr>
            <a:r>
              <a:rPr sz="800">
                <a:solidFill>
                  <a:srgbClr val="566372"/>
                </a:solidFill>
              </a:rPr>
              <a:t>Agents compare impact • equity
• cost • resilience</a:t>
            </a:r>
          </a:p>
        </p:txBody>
      </p:sp>
      <p:sp>
        <p:nvSpPr>
          <p:cNvPr id="20" name="Oval 19"/>
          <p:cNvSpPr/>
          <p:nvPr/>
        </p:nvSpPr>
        <p:spPr>
          <a:xfrm>
            <a:off x="1228497" y="3006090"/>
            <a:ext cx="438912" cy="365760"/>
          </a:xfrm>
          <a:prstGeom prst="ellipse">
            <a:avLst/>
          </a:prstGeom>
          <a:solidFill>
            <a:srgbClr val="F5D064"/>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t>07</a:t>
            </a:r>
          </a:p>
        </p:txBody>
      </p:sp>
      <p:sp>
        <p:nvSpPr>
          <p:cNvPr id="21" name="Rounded Rectangle 20"/>
          <p:cNvSpPr/>
          <p:nvPr/>
        </p:nvSpPr>
        <p:spPr>
          <a:xfrm>
            <a:off x="2258823" y="3164332"/>
            <a:ext cx="1051560" cy="1481328"/>
          </a:xfrm>
          <a:prstGeom prst="roundRect">
            <a:avLst/>
          </a:prstGeom>
          <a:solidFill>
            <a:srgbClr val="FFFFFF"/>
          </a:solidFill>
          <a:ln w="22860">
            <a:solidFill>
              <a:srgbClr val="8EADD8"/>
            </a:solidFill>
          </a:ln>
        </p:spPr>
        <p:style>
          <a:lnRef idx="1">
            <a:schemeClr val="accent1"/>
          </a:lnRef>
          <a:fillRef idx="3">
            <a:schemeClr val="accent1"/>
          </a:fillRef>
          <a:effectRef idx="2">
            <a:schemeClr val="accent1"/>
          </a:effectRef>
          <a:fontRef idx="minor">
            <a:schemeClr val="lt1"/>
          </a:fontRef>
        </p:style>
        <p:txBody>
          <a:bodyPr lIns="64008" tIns="173736" rIns="64008" rtlCol="0" anchor="ctr"/>
          <a:lstStyle/>
          <a:p>
            <a:pPr algn="ctr"/>
            <a:r>
              <a:rPr sz="950" b="1">
                <a:solidFill>
                  <a:srgbClr val="1C2536"/>
                </a:solidFill>
              </a:rPr>
              <a:t>GOVERN</a:t>
            </a:r>
          </a:p>
          <a:p>
            <a:pPr algn="ctr">
              <a:spcBef>
                <a:spcPts val="500"/>
              </a:spcBef>
            </a:pPr>
            <a:r>
              <a:rPr sz="800">
                <a:solidFill>
                  <a:srgbClr val="566372"/>
                </a:solidFill>
              </a:rPr>
              <a:t>Authorized human decision
+ policy parameters</a:t>
            </a:r>
          </a:p>
        </p:txBody>
      </p:sp>
      <p:sp>
        <p:nvSpPr>
          <p:cNvPr id="22" name="Oval 21"/>
          <p:cNvSpPr/>
          <p:nvPr/>
        </p:nvSpPr>
        <p:spPr>
          <a:xfrm>
            <a:off x="2531322" y="2983654"/>
            <a:ext cx="438912" cy="365760"/>
          </a:xfrm>
          <a:prstGeom prst="ellipse">
            <a:avLst/>
          </a:prstGeom>
          <a:solidFill>
            <a:srgbClr val="8EADD8"/>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t>08</a:t>
            </a:r>
          </a:p>
        </p:txBody>
      </p:sp>
      <p:sp>
        <p:nvSpPr>
          <p:cNvPr id="23" name="Rounded Rectangle 22"/>
          <p:cNvSpPr/>
          <p:nvPr/>
        </p:nvSpPr>
        <p:spPr>
          <a:xfrm>
            <a:off x="3569885" y="3164162"/>
            <a:ext cx="1051560" cy="1481328"/>
          </a:xfrm>
          <a:prstGeom prst="roundRect">
            <a:avLst/>
          </a:prstGeom>
          <a:solidFill>
            <a:srgbClr val="FFFFFF"/>
          </a:solidFill>
          <a:ln w="22860">
            <a:solidFill>
              <a:srgbClr val="747474"/>
            </a:solidFill>
          </a:ln>
        </p:spPr>
        <p:style>
          <a:lnRef idx="1">
            <a:schemeClr val="accent1"/>
          </a:lnRef>
          <a:fillRef idx="3">
            <a:schemeClr val="accent1"/>
          </a:fillRef>
          <a:effectRef idx="2">
            <a:schemeClr val="accent1"/>
          </a:effectRef>
          <a:fontRef idx="minor">
            <a:schemeClr val="lt1"/>
          </a:fontRef>
        </p:style>
        <p:txBody>
          <a:bodyPr lIns="64008" tIns="173736" rIns="64008" rtlCol="0" anchor="ctr"/>
          <a:lstStyle/>
          <a:p>
            <a:pPr algn="ctr"/>
            <a:r>
              <a:rPr sz="950" b="1">
                <a:solidFill>
                  <a:srgbClr val="1C2536"/>
                </a:solidFill>
              </a:rPr>
              <a:t>ACT</a:t>
            </a:r>
          </a:p>
          <a:p>
            <a:pPr algn="ctr">
              <a:spcBef>
                <a:spcPts val="500"/>
              </a:spcBef>
            </a:pPr>
            <a:r>
              <a:rPr sz="800">
                <a:solidFill>
                  <a:srgbClr val="566372"/>
                </a:solidFill>
              </a:rPr>
              <a:t>Approved priorities →
projects &amp; implementation</a:t>
            </a:r>
          </a:p>
        </p:txBody>
      </p:sp>
      <p:sp>
        <p:nvSpPr>
          <p:cNvPr id="24" name="Oval 23"/>
          <p:cNvSpPr/>
          <p:nvPr/>
        </p:nvSpPr>
        <p:spPr>
          <a:xfrm>
            <a:off x="3856060" y="2955544"/>
            <a:ext cx="438912" cy="365760"/>
          </a:xfrm>
          <a:prstGeom prst="ellipse">
            <a:avLst/>
          </a:prstGeom>
          <a:solidFill>
            <a:srgbClr val="747474"/>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t>09</a:t>
            </a:r>
          </a:p>
        </p:txBody>
      </p:sp>
      <p:sp>
        <p:nvSpPr>
          <p:cNvPr id="25" name="Rounded Rectangle 24"/>
          <p:cNvSpPr/>
          <p:nvPr/>
        </p:nvSpPr>
        <p:spPr>
          <a:xfrm>
            <a:off x="4840648" y="3164162"/>
            <a:ext cx="1051560" cy="1481328"/>
          </a:xfrm>
          <a:prstGeom prst="roundRect">
            <a:avLst/>
          </a:prstGeom>
          <a:solidFill>
            <a:srgbClr val="FFFFFF"/>
          </a:solidFill>
          <a:ln w="22860">
            <a:solidFill>
              <a:srgbClr val="BCBCBC"/>
            </a:solidFill>
          </a:ln>
        </p:spPr>
        <p:style>
          <a:lnRef idx="1">
            <a:schemeClr val="accent1"/>
          </a:lnRef>
          <a:fillRef idx="3">
            <a:schemeClr val="accent1"/>
          </a:fillRef>
          <a:effectRef idx="2">
            <a:schemeClr val="accent1"/>
          </a:effectRef>
          <a:fontRef idx="minor">
            <a:schemeClr val="lt1"/>
          </a:fontRef>
        </p:style>
        <p:txBody>
          <a:bodyPr lIns="64008" tIns="173736" rIns="64008" rtlCol="0" anchor="ctr"/>
          <a:lstStyle/>
          <a:p>
            <a:pPr algn="ctr"/>
            <a:r>
              <a:rPr sz="950" b="1">
                <a:solidFill>
                  <a:srgbClr val="1C2536"/>
                </a:solidFill>
              </a:rPr>
              <a:t>PROVE</a:t>
            </a:r>
          </a:p>
          <a:p>
            <a:pPr algn="ctr">
              <a:spcBef>
                <a:spcPts val="500"/>
              </a:spcBef>
            </a:pPr>
            <a:r>
              <a:rPr sz="800">
                <a:solidFill>
                  <a:srgbClr val="566372"/>
                </a:solidFill>
              </a:rPr>
              <a:t>Outcome evidence +
Impact Receipt</a:t>
            </a:r>
          </a:p>
        </p:txBody>
      </p:sp>
      <p:sp>
        <p:nvSpPr>
          <p:cNvPr id="26" name="Oval 25"/>
          <p:cNvSpPr/>
          <p:nvPr/>
        </p:nvSpPr>
        <p:spPr>
          <a:xfrm>
            <a:off x="5128427" y="3006090"/>
            <a:ext cx="438912" cy="365760"/>
          </a:xfrm>
          <a:prstGeom prst="ellipse">
            <a:avLst/>
          </a:prstGeom>
          <a:solidFill>
            <a:srgbClr val="BCBCBC"/>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rPr dirty="0"/>
              <a:t>10</a:t>
            </a:r>
          </a:p>
        </p:txBody>
      </p:sp>
      <p:sp>
        <p:nvSpPr>
          <p:cNvPr id="27" name="Rounded Rectangle 26"/>
          <p:cNvSpPr/>
          <p:nvPr/>
        </p:nvSpPr>
        <p:spPr>
          <a:xfrm>
            <a:off x="6073648" y="3162808"/>
            <a:ext cx="1051560" cy="1481328"/>
          </a:xfrm>
          <a:prstGeom prst="roundRect">
            <a:avLst/>
          </a:prstGeom>
          <a:solidFill>
            <a:srgbClr val="FFFFFF"/>
          </a:solidFill>
          <a:ln w="22860">
            <a:solidFill>
              <a:srgbClr val="DBE2EB"/>
            </a:solidFill>
          </a:ln>
        </p:spPr>
        <p:style>
          <a:lnRef idx="1">
            <a:schemeClr val="accent1"/>
          </a:lnRef>
          <a:fillRef idx="3">
            <a:schemeClr val="accent1"/>
          </a:fillRef>
          <a:effectRef idx="2">
            <a:schemeClr val="accent1"/>
          </a:effectRef>
          <a:fontRef idx="minor">
            <a:schemeClr val="lt1"/>
          </a:fontRef>
        </p:style>
        <p:txBody>
          <a:bodyPr lIns="64008" tIns="173736" rIns="64008" rtlCol="0" anchor="ctr"/>
          <a:lstStyle/>
          <a:p>
            <a:pPr algn="ctr"/>
            <a:r>
              <a:rPr sz="950" b="1">
                <a:solidFill>
                  <a:srgbClr val="1C2536"/>
                </a:solidFill>
              </a:rPr>
              <a:t>LEARN</a:t>
            </a:r>
          </a:p>
          <a:p>
            <a:pPr algn="ctr">
              <a:spcBef>
                <a:spcPts val="500"/>
              </a:spcBef>
            </a:pPr>
            <a:r>
              <a:rPr sz="800">
                <a:solidFill>
                  <a:srgbClr val="566372"/>
                </a:solidFill>
              </a:rPr>
              <a:t>Measured results improve
future planning</a:t>
            </a:r>
          </a:p>
        </p:txBody>
      </p:sp>
      <p:sp>
        <p:nvSpPr>
          <p:cNvPr id="28" name="Oval 27"/>
          <p:cNvSpPr/>
          <p:nvPr/>
        </p:nvSpPr>
        <p:spPr>
          <a:xfrm>
            <a:off x="6346442" y="3019299"/>
            <a:ext cx="438912" cy="365760"/>
          </a:xfrm>
          <a:prstGeom prst="ellipse">
            <a:avLst/>
          </a:prstGeom>
          <a:solidFill>
            <a:srgbClr val="DBE2EB"/>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rPr dirty="0"/>
              <a:t>11</a:t>
            </a:r>
          </a:p>
        </p:txBody>
      </p:sp>
      <p:cxnSp>
        <p:nvCxnSpPr>
          <p:cNvPr id="39" name="Connector 38"/>
          <p:cNvCxnSpPr/>
          <p:nvPr/>
        </p:nvCxnSpPr>
        <p:spPr>
          <a:xfrm flipH="1">
            <a:off x="0" y="4343400"/>
            <a:ext cx="0" cy="0"/>
          </a:xfrm>
          <a:prstGeom prst="line">
            <a:avLst/>
          </a:prstGeom>
          <a:ln w="25400">
            <a:solidFill>
              <a:srgbClr val="0E3D70"/>
            </a:solidFill>
          </a:ln>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7698228" y="854964"/>
            <a:ext cx="4229014" cy="3693319"/>
          </a:xfrm>
          <a:prstGeom prst="rect">
            <a:avLst/>
          </a:prstGeom>
          <a:ln>
            <a:solidFill>
              <a:schemeClr val="tx1"/>
            </a:solidFill>
          </a:ln>
        </p:spPr>
        <p:txBody>
          <a:bodyPr wrap="square">
            <a:spAutoFit/>
          </a:bodyPr>
          <a:lstStyle/>
          <a:p>
            <a:r>
              <a:rPr lang="en-IN" dirty="0"/>
              <a:t>JANAVYUH is a sovereign, multi-language Civic Intelligence &amp; Public Investment Operating System that transforms citizen feedback and public data into:</a:t>
            </a:r>
          </a:p>
          <a:p>
            <a:endParaRPr lang="en-IN" dirty="0"/>
          </a:p>
          <a:p>
            <a:pPr marL="285750" indent="-285750">
              <a:buFont typeface="Arial" panose="020B0604020202020204" pitchFamily="34" charset="0"/>
              <a:buChar char="•"/>
            </a:pPr>
            <a:r>
              <a:rPr lang="en-IN" dirty="0"/>
              <a:t>civic data evidence -&gt; infrastructure intelligence -&gt; need prediction -&gt; policy simulation -&gt; decision making -&gt; impact verification.</a:t>
            </a:r>
          </a:p>
          <a:p>
            <a:endParaRPr lang="en-IN" dirty="0"/>
          </a:p>
          <a:p>
            <a:pPr marL="285750" indent="-285750">
              <a:buFont typeface="Arial" panose="020B0604020202020204" pitchFamily="34" charset="0"/>
              <a:buChar char="•"/>
            </a:pPr>
            <a:r>
              <a:rPr lang="en-IN" dirty="0"/>
              <a:t>It is a decision-making layer by design and not a self-decision-making public spending authority.</a:t>
            </a:r>
            <a:endParaRPr lang="en-IN" dirty="0"/>
          </a:p>
        </p:txBody>
      </p:sp>
      <p:sp>
        <p:nvSpPr>
          <p:cNvPr id="63" name="Rounded Rectangle 62"/>
          <p:cNvSpPr/>
          <p:nvPr/>
        </p:nvSpPr>
        <p:spPr>
          <a:xfrm>
            <a:off x="455634" y="5276469"/>
            <a:ext cx="2514600" cy="1319486"/>
          </a:xfrm>
          <a:prstGeom prst="roundRect">
            <a:avLst/>
          </a:prstGeom>
          <a:solidFill>
            <a:srgbClr val="FFFFFF"/>
          </a:solidFill>
          <a:ln w="22860">
            <a:solidFill>
              <a:srgbClr val="14A9D4"/>
            </a:solidFill>
          </a:ln>
        </p:spPr>
        <p:style>
          <a:lnRef idx="1">
            <a:schemeClr val="accent1"/>
          </a:lnRef>
          <a:fillRef idx="3">
            <a:schemeClr val="accent1"/>
          </a:fillRef>
          <a:effectRef idx="2">
            <a:schemeClr val="accent1"/>
          </a:effectRef>
          <a:fontRef idx="minor">
            <a:schemeClr val="lt1"/>
          </a:fontRef>
        </p:style>
        <p:txBody>
          <a:bodyPr lIns="164592" tIns="118872" rtlCol="0" anchor="ctr"/>
          <a:lstStyle/>
          <a:p>
            <a:pPr algn="ctr">
              <a:defRPr sz="1300" b="1">
                <a:solidFill>
                  <a:srgbClr val="1C2536"/>
                </a:solidFill>
                <a:latin typeface="Aptos"/>
              </a:defRPr>
            </a:pPr>
            <a:r>
              <a:t>INTELLIGENCE ENGINE</a:t>
            </a:r>
          </a:p>
          <a:p>
            <a:pPr>
              <a:spcBef>
                <a:spcPts val="300"/>
              </a:spcBef>
              <a:defRPr sz="950">
                <a:solidFill>
                  <a:srgbClr val="566372"/>
                </a:solidFill>
                <a:latin typeface="Aptos"/>
              </a:defRPr>
            </a:pPr>
            <a:r>
              <a:t>• Multilingual AI + speech</a:t>
            </a:r>
          </a:p>
          <a:p>
            <a:pPr>
              <a:spcBef>
                <a:spcPts val="300"/>
              </a:spcBef>
              <a:defRPr sz="950">
                <a:solidFill>
                  <a:srgbClr val="566372"/>
                </a:solidFill>
                <a:latin typeface="Aptos"/>
              </a:defRPr>
            </a:pPr>
            <a:r>
              <a:t>• Civic Need Graph + PostGIS</a:t>
            </a:r>
          </a:p>
          <a:p>
            <a:pPr>
              <a:spcBef>
                <a:spcPts val="300"/>
              </a:spcBef>
              <a:defRPr sz="950">
                <a:solidFill>
                  <a:srgbClr val="566372"/>
                </a:solidFill>
                <a:latin typeface="Aptos"/>
              </a:defRPr>
            </a:pPr>
            <a:r>
              <a:t>• Forecasting + anomaly detection</a:t>
            </a:r>
          </a:p>
          <a:p>
            <a:pPr>
              <a:spcBef>
                <a:spcPts val="300"/>
              </a:spcBef>
              <a:defRPr sz="950">
                <a:solidFill>
                  <a:srgbClr val="566372"/>
                </a:solidFill>
                <a:latin typeface="Aptos"/>
              </a:defRPr>
            </a:pPr>
            <a:r>
              <a:t>• Causal / dependency reasoning</a:t>
            </a:r>
          </a:p>
        </p:txBody>
      </p:sp>
      <p:sp>
        <p:nvSpPr>
          <p:cNvPr id="64" name="Rounded Rectangle 63"/>
          <p:cNvSpPr/>
          <p:nvPr/>
        </p:nvSpPr>
        <p:spPr>
          <a:xfrm>
            <a:off x="3163907" y="5276469"/>
            <a:ext cx="3621447" cy="1319486"/>
          </a:xfrm>
          <a:prstGeom prst="roundRect">
            <a:avLst/>
          </a:prstGeom>
          <a:solidFill>
            <a:srgbClr val="FFFFFF"/>
          </a:solidFill>
          <a:ln w="22860">
            <a:solidFill>
              <a:srgbClr val="CA570B"/>
            </a:solidFill>
          </a:ln>
        </p:spPr>
        <p:style>
          <a:lnRef idx="1">
            <a:schemeClr val="accent1"/>
          </a:lnRef>
          <a:fillRef idx="3">
            <a:schemeClr val="accent1"/>
          </a:fillRef>
          <a:effectRef idx="2">
            <a:schemeClr val="accent1"/>
          </a:effectRef>
          <a:fontRef idx="minor">
            <a:schemeClr val="lt1"/>
          </a:fontRef>
        </p:style>
        <p:txBody>
          <a:bodyPr lIns="164592" tIns="118872" rtlCol="0" anchor="ctr"/>
          <a:lstStyle/>
          <a:p>
            <a:pPr algn="ctr">
              <a:defRPr sz="1300" b="1">
                <a:solidFill>
                  <a:srgbClr val="1C2536"/>
                </a:solidFill>
                <a:latin typeface="Aptos"/>
              </a:defRPr>
            </a:pPr>
            <a:r>
              <a:rPr dirty="0"/>
              <a:t>DECISION &amp; GOVERNANCE</a:t>
            </a:r>
          </a:p>
          <a:p>
            <a:pPr>
              <a:spcBef>
                <a:spcPts val="300"/>
              </a:spcBef>
              <a:defRPr sz="950">
                <a:solidFill>
                  <a:srgbClr val="566372"/>
                </a:solidFill>
                <a:latin typeface="Aptos"/>
              </a:defRPr>
            </a:pPr>
            <a:r>
              <a:rPr dirty="0"/>
              <a:t>• NIRNAY multi-agent trade-offs</a:t>
            </a:r>
          </a:p>
          <a:p>
            <a:pPr>
              <a:spcBef>
                <a:spcPts val="300"/>
              </a:spcBef>
              <a:defRPr sz="950">
                <a:solidFill>
                  <a:srgbClr val="566372"/>
                </a:solidFill>
                <a:latin typeface="Aptos"/>
              </a:defRPr>
            </a:pPr>
            <a:r>
              <a:rPr dirty="0"/>
              <a:t>• JANMAT fairness parameter (controlled)</a:t>
            </a:r>
          </a:p>
          <a:p>
            <a:pPr>
              <a:spcBef>
                <a:spcPts val="300"/>
              </a:spcBef>
              <a:defRPr sz="950">
                <a:solidFill>
                  <a:srgbClr val="566372"/>
                </a:solidFill>
                <a:latin typeface="Aptos"/>
              </a:defRPr>
            </a:pPr>
            <a:r>
              <a:rPr dirty="0"/>
              <a:t>• Policy Time Machine / A-B-C scenarios</a:t>
            </a:r>
          </a:p>
          <a:p>
            <a:pPr>
              <a:spcBef>
                <a:spcPts val="300"/>
              </a:spcBef>
              <a:defRPr sz="950">
                <a:solidFill>
                  <a:srgbClr val="566372"/>
                </a:solidFill>
                <a:latin typeface="Aptos"/>
              </a:defRPr>
            </a:pPr>
            <a:r>
              <a:rPr dirty="0"/>
              <a:t>• Human approval + audit trail</a:t>
            </a:r>
          </a:p>
        </p:txBody>
      </p:sp>
      <p:sp>
        <p:nvSpPr>
          <p:cNvPr id="65" name="Rectangle 64"/>
          <p:cNvSpPr/>
          <p:nvPr/>
        </p:nvSpPr>
        <p:spPr>
          <a:xfrm>
            <a:off x="410846" y="5266650"/>
            <a:ext cx="89576" cy="1339124"/>
          </a:xfrm>
          <a:prstGeom prst="rect">
            <a:avLst/>
          </a:prstGeom>
          <a:solidFill>
            <a:srgbClr val="14A9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3149641" y="5266650"/>
            <a:ext cx="93091" cy="1340480"/>
          </a:xfrm>
          <a:prstGeom prst="rect">
            <a:avLst/>
          </a:prstGeom>
          <a:solidFill>
            <a:srgbClr val="CA57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7694760" y="4456886"/>
            <a:ext cx="3122674" cy="2492990"/>
          </a:xfrm>
          <a:prstGeom prst="rect">
            <a:avLst/>
          </a:prstGeom>
        </p:spPr>
        <p:txBody>
          <a:bodyPr wrap="square">
            <a:spAutoFit/>
          </a:bodyPr>
          <a:lstStyle/>
          <a:p>
            <a:endParaRPr lang="en-US" sz="1400" dirty="0"/>
          </a:p>
          <a:p>
            <a:r>
              <a:rPr lang="en-US" sz="1600" b="1" dirty="0"/>
              <a:t>KEY OUTPUTS</a:t>
            </a:r>
          </a:p>
          <a:p>
            <a:r>
              <a:rPr lang="en-US" sz="1400" b="1" dirty="0"/>
              <a:t>01 — Civic Evidence</a:t>
            </a:r>
            <a:r>
              <a:rPr lang="en-US" sz="1400" dirty="0"/>
              <a:t/>
            </a:r>
            <a:br>
              <a:rPr lang="en-US" sz="1400" dirty="0"/>
            </a:br>
            <a:r>
              <a:rPr lang="en-US" sz="1400" dirty="0"/>
              <a:t>Unified citizen + public data</a:t>
            </a:r>
          </a:p>
          <a:p>
            <a:r>
              <a:rPr lang="en-US" sz="1400" b="1" dirty="0"/>
              <a:t>02 — Priority Intelligence</a:t>
            </a:r>
            <a:r>
              <a:rPr lang="en-US" sz="1400" dirty="0"/>
              <a:t/>
            </a:r>
            <a:br>
              <a:rPr lang="en-US" sz="1400" dirty="0"/>
            </a:br>
            <a:r>
              <a:rPr lang="en-US" sz="1400" dirty="0"/>
              <a:t>Hotspots + future needs</a:t>
            </a:r>
          </a:p>
          <a:p>
            <a:r>
              <a:rPr lang="en-US" sz="1400" b="1" dirty="0"/>
              <a:t>03 — Decision Support</a:t>
            </a:r>
            <a:r>
              <a:rPr lang="en-US" sz="1400" dirty="0"/>
              <a:t/>
            </a:r>
            <a:br>
              <a:rPr lang="en-US" sz="1400" dirty="0"/>
            </a:br>
            <a:r>
              <a:rPr lang="en-US" sz="1400" dirty="0"/>
              <a:t>Projects + budget scenarios</a:t>
            </a:r>
          </a:p>
          <a:p>
            <a:r>
              <a:rPr lang="en-US" sz="1400" b="1" dirty="0"/>
              <a:t>04 — Impact Proof</a:t>
            </a:r>
            <a:r>
              <a:rPr lang="en-US" sz="1400" dirty="0"/>
              <a:t/>
            </a:r>
            <a:br>
              <a:rPr lang="en-US" sz="1400" dirty="0"/>
            </a:br>
            <a:r>
              <a:rPr lang="en-US" sz="1400" dirty="0"/>
              <a:t>Verified outcomes + Impact Receipt</a:t>
            </a:r>
          </a:p>
          <a:p>
            <a:endParaRPr lang="en-US" sz="1400" dirty="0"/>
          </a:p>
        </p:txBody>
      </p:sp>
      <p:sp>
        <p:nvSpPr>
          <p:cNvPr id="68" name="Rectangle 67"/>
          <p:cNvSpPr/>
          <p:nvPr/>
        </p:nvSpPr>
        <p:spPr>
          <a:xfrm>
            <a:off x="7709291" y="4711653"/>
            <a:ext cx="2830236" cy="207485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9" name="Rounded Rectangle 68"/>
          <p:cNvSpPr/>
          <p:nvPr/>
        </p:nvSpPr>
        <p:spPr>
          <a:xfrm>
            <a:off x="637529" y="4813638"/>
            <a:ext cx="6561350" cy="212753"/>
          </a:xfrm>
          <a:prstGeom prst="round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ptos"/>
              </a:defRPr>
            </a:pPr>
            <a:r>
              <a:rPr dirty="0" smtClean="0">
                <a:solidFill>
                  <a:schemeClr val="tx1"/>
                </a:solidFill>
              </a:rPr>
              <a:t>FROM EVERY VOICE  →  EVIDENCE  →  SIMULATION  →  VERIFIED IMPACT</a:t>
            </a:r>
            <a:endParaRPr dirty="0">
              <a:solidFill>
                <a:schemeClr val="tx1"/>
              </a:solidFill>
            </a:endParaRPr>
          </a:p>
        </p:txBody>
      </p:sp>
      <p:sp>
        <p:nvSpPr>
          <p:cNvPr id="70" name="Rectangle 69"/>
          <p:cNvSpPr/>
          <p:nvPr/>
        </p:nvSpPr>
        <p:spPr>
          <a:xfrm>
            <a:off x="1051560" y="146304"/>
            <a:ext cx="10698480" cy="566928"/>
          </a:xfrm>
          <a:prstGeom prst="rect">
            <a:avLst/>
          </a:prstGeom>
          <a:solidFill>
            <a:schemeClr val="accent2">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1" name="Rectangle 70"/>
          <p:cNvSpPr/>
          <p:nvPr/>
        </p:nvSpPr>
        <p:spPr>
          <a:xfrm>
            <a:off x="2970234" y="145391"/>
            <a:ext cx="6334556" cy="584775"/>
          </a:xfrm>
          <a:prstGeom prst="rect">
            <a:avLst/>
          </a:prstGeom>
        </p:spPr>
        <p:txBody>
          <a:bodyPr wrap="none">
            <a:spAutoFit/>
          </a:bodyPr>
          <a:lstStyle/>
          <a:p>
            <a:pPr algn="ctr"/>
            <a:r>
              <a:rPr lang="en-IN" sz="3200" b="1" dirty="0"/>
              <a:t>JANAVYUH  |  PROPOSED SOLUTION</a:t>
            </a:r>
            <a:endParaRPr lang="en-IN" sz="3200" b="1" dirty="0"/>
          </a:p>
        </p:txBody>
      </p:sp>
    </p:spTree>
    <p:extLst>
      <p:ext uri="{BB962C8B-B14F-4D97-AF65-F5344CB8AC3E}">
        <p14:creationId xmlns:p14="http://schemas.microsoft.com/office/powerpoint/2010/main" val="2471169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8" y="0"/>
            <a:ext cx="12188761" cy="6859822"/>
          </a:xfrm>
          <a:prstGeom prst="rect">
            <a:avLst/>
          </a:prstGeom>
        </p:spPr>
      </p:pic>
    </p:spTree>
    <p:extLst>
      <p:ext uri="{BB962C8B-B14F-4D97-AF65-F5344CB8AC3E}">
        <p14:creationId xmlns:p14="http://schemas.microsoft.com/office/powerpoint/2010/main" val="1732877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4"/>
          <p:cNvSpPr txBox="1">
            <a:spLocks noGrp="1"/>
          </p:cNvSpPr>
          <p:nvPr>
            <p:ph type="title"/>
          </p:nvPr>
        </p:nvSpPr>
        <p:spPr>
          <a:xfrm>
            <a:off x="1068654" y="34290"/>
            <a:ext cx="10058400" cy="743829"/>
          </a:xfrm>
          <a:prstGeom prst="rect">
            <a:avLst/>
          </a:prstGeom>
          <a:gradFill>
            <a:gsLst>
              <a:gs pos="0">
                <a:srgbClr val="F0AF8D"/>
              </a:gs>
              <a:gs pos="45000">
                <a:srgbClr val="F4BCA0"/>
              </a:gs>
              <a:gs pos="100000">
                <a:srgbClr val="FDC2A5"/>
              </a:gs>
            </a:gsLst>
            <a:path path="circle">
              <a:fillToRect l="50000" t="50000" r="50000" b="50000"/>
            </a:path>
            <a:tileRect/>
          </a:gradFill>
          <a:ln w="12700" cap="flat" cmpd="sng">
            <a:solidFill>
              <a:schemeClr val="tx1">
                <a:lumMod val="95000"/>
                <a:lumOff val="5000"/>
              </a:schemeClr>
            </a:solidFill>
            <a:prstDash val="solid"/>
            <a:round/>
            <a:headEnd type="none" w="sm" len="sm"/>
            <a:tailEnd type="none" w="sm" len="sm"/>
          </a:ln>
        </p:spPr>
        <p:txBody>
          <a:bodyPr spcFirstLastPara="1" wrap="square" lIns="91425" tIns="45700" rIns="91425" bIns="45700" anchor="b" anchorCtr="0">
            <a:normAutofit/>
          </a:bodyPr>
          <a:lstStyle/>
          <a:p>
            <a:pPr lvl="0" algn="ctr">
              <a:lnSpc>
                <a:spcPct val="85000"/>
              </a:lnSpc>
              <a:spcBef>
                <a:spcPts val="0"/>
              </a:spcBef>
              <a:buClr>
                <a:schemeClr val="dk1"/>
              </a:buClr>
              <a:buSzPts val="4800"/>
            </a:pPr>
            <a:r>
              <a:rPr lang="en-US" b="1" dirty="0" smtClean="0">
                <a:latin typeface="+mn-lt"/>
              </a:rPr>
              <a:t>TECHNOLOGY USED &amp;METHODLOGY</a:t>
            </a:r>
            <a:endParaRPr lang="en-IN" b="1" dirty="0">
              <a:latin typeface="+mn-lt"/>
            </a:endParaRPr>
          </a:p>
        </p:txBody>
      </p:sp>
      <p:sp>
        <p:nvSpPr>
          <p:cNvPr id="4" name="Rectangle 3"/>
          <p:cNvSpPr/>
          <p:nvPr/>
        </p:nvSpPr>
        <p:spPr>
          <a:xfrm>
            <a:off x="105713" y="864023"/>
            <a:ext cx="6168087" cy="5539978"/>
          </a:xfrm>
          <a:prstGeom prst="rect">
            <a:avLst/>
          </a:prstGeom>
          <a:ln>
            <a:solidFill>
              <a:schemeClr val="tx1"/>
            </a:solidFill>
          </a:ln>
        </p:spPr>
        <p:txBody>
          <a:bodyPr wrap="square">
            <a:spAutoFit/>
          </a:bodyPr>
          <a:lstStyle/>
          <a:p>
            <a:r>
              <a:rPr lang="en-IN" dirty="0"/>
              <a:t>Technology Stack</a:t>
            </a:r>
          </a:p>
          <a:p>
            <a:endParaRPr lang="en-IN" sz="1600" dirty="0"/>
          </a:p>
          <a:p>
            <a:r>
              <a:rPr lang="en-IN" sz="1600" b="1" dirty="0"/>
              <a:t>• UI and Visualizations</a:t>
            </a:r>
            <a:r>
              <a:rPr lang="en-IN" sz="1600" dirty="0"/>
              <a:t>: React/Next.js and </a:t>
            </a:r>
            <a:r>
              <a:rPr lang="en-IN" sz="1600" dirty="0" err="1"/>
              <a:t>MapLibre</a:t>
            </a:r>
            <a:r>
              <a:rPr lang="en-IN" sz="1600" dirty="0"/>
              <a:t> / Leaflet for building dashboards and civic maps.</a:t>
            </a:r>
          </a:p>
          <a:p>
            <a:r>
              <a:rPr lang="en-IN" sz="1600" dirty="0"/>
              <a:t>• </a:t>
            </a:r>
            <a:r>
              <a:rPr lang="en-IN" sz="1600" b="1" dirty="0"/>
              <a:t>Backend and APIs</a:t>
            </a:r>
            <a:r>
              <a:rPr lang="en-IN" sz="1600" dirty="0"/>
              <a:t>: Python / </a:t>
            </a:r>
            <a:r>
              <a:rPr lang="en-IN" sz="1600" dirty="0" err="1"/>
              <a:t>FastAPI</a:t>
            </a:r>
            <a:r>
              <a:rPr lang="en-IN" sz="1600" dirty="0"/>
              <a:t> for building data pipelines and APIs.</a:t>
            </a:r>
          </a:p>
          <a:p>
            <a:r>
              <a:rPr lang="en-IN" sz="1600" b="1" dirty="0"/>
              <a:t>• LLM</a:t>
            </a:r>
            <a:r>
              <a:rPr lang="en-IN" sz="1600" dirty="0"/>
              <a:t>: Multilingual LLMs for intent extraction, reasoning, and summarization.</a:t>
            </a:r>
          </a:p>
          <a:p>
            <a:r>
              <a:rPr lang="en-IN" sz="1600" b="1" dirty="0"/>
              <a:t>• Speech and Language</a:t>
            </a:r>
            <a:r>
              <a:rPr lang="en-IN" sz="1600" dirty="0"/>
              <a:t>: Whisper / </a:t>
            </a:r>
            <a:r>
              <a:rPr lang="en-IN" sz="1600" dirty="0" err="1"/>
              <a:t>Bhashini</a:t>
            </a:r>
            <a:r>
              <a:rPr lang="en-IN" sz="1600" dirty="0"/>
              <a:t> class ASR for speech recognition in regional languages.</a:t>
            </a:r>
          </a:p>
          <a:p>
            <a:r>
              <a:rPr lang="en-IN" sz="1600" b="1" dirty="0"/>
              <a:t>• NLP and </a:t>
            </a:r>
            <a:r>
              <a:rPr lang="en-IN" sz="1600" b="1" dirty="0" err="1"/>
              <a:t>Embeddings</a:t>
            </a:r>
            <a:r>
              <a:rPr lang="en-IN" sz="1600" dirty="0"/>
              <a:t>: Sentence transformers and vector search for similarity and need clustering.</a:t>
            </a:r>
          </a:p>
          <a:p>
            <a:r>
              <a:rPr lang="en-IN" sz="1600" b="1" dirty="0"/>
              <a:t>• Civic Knowledge Graph</a:t>
            </a:r>
            <a:r>
              <a:rPr lang="en-IN" sz="1600" dirty="0"/>
              <a:t>: Neo4j / PostgreSQL for linking needs, locations, assets and projects.</a:t>
            </a:r>
          </a:p>
          <a:p>
            <a:r>
              <a:rPr lang="en-IN" sz="1600" dirty="0"/>
              <a:t>•</a:t>
            </a:r>
            <a:r>
              <a:rPr lang="en-IN" sz="1600" b="1" dirty="0"/>
              <a:t> Geo-intelligence</a:t>
            </a:r>
            <a:r>
              <a:rPr lang="en-IN" sz="1600" dirty="0"/>
              <a:t>: </a:t>
            </a:r>
            <a:r>
              <a:rPr lang="en-IN" sz="1600" dirty="0" err="1"/>
              <a:t>PostGIS</a:t>
            </a:r>
            <a:r>
              <a:rPr lang="en-IN" sz="1600" dirty="0"/>
              <a:t> and geospatial analytics for hotspots and silent zones.</a:t>
            </a:r>
          </a:p>
          <a:p>
            <a:r>
              <a:rPr lang="en-IN" sz="1600" dirty="0"/>
              <a:t>• </a:t>
            </a:r>
            <a:r>
              <a:rPr lang="en-IN" sz="1600" b="1" dirty="0"/>
              <a:t>Prediction and analytics</a:t>
            </a:r>
            <a:r>
              <a:rPr lang="en-IN" sz="1600" dirty="0"/>
              <a:t>: HDBSCAN and anomaly detection with time series forecasting.</a:t>
            </a:r>
          </a:p>
          <a:p>
            <a:r>
              <a:rPr lang="en-IN" sz="1600" dirty="0"/>
              <a:t>• </a:t>
            </a:r>
            <a:r>
              <a:rPr lang="en-IN" sz="1600" b="1" dirty="0"/>
              <a:t>Decision intelligence</a:t>
            </a:r>
            <a:r>
              <a:rPr lang="en-IN" sz="1600" dirty="0"/>
              <a:t>: Causal inference, multi-agent workflows, and scenario simulations.</a:t>
            </a:r>
          </a:p>
          <a:p>
            <a:r>
              <a:rPr lang="en-IN" sz="1600" dirty="0"/>
              <a:t>• </a:t>
            </a:r>
            <a:r>
              <a:rPr lang="en-IN" sz="1600" b="1" dirty="0"/>
              <a:t>Security and deployment</a:t>
            </a:r>
            <a:r>
              <a:rPr lang="en-IN" sz="1600" dirty="0"/>
              <a:t>: RBAC, audit logs, Docker / Kubernetes, and sovereign data nodes.</a:t>
            </a:r>
          </a:p>
        </p:txBody>
      </p:sp>
      <p:sp>
        <p:nvSpPr>
          <p:cNvPr id="19" name="Rectangle 18"/>
          <p:cNvSpPr/>
          <p:nvPr/>
        </p:nvSpPr>
        <p:spPr>
          <a:xfrm>
            <a:off x="6426199" y="864023"/>
            <a:ext cx="5554134" cy="6001643"/>
          </a:xfrm>
          <a:prstGeom prst="rect">
            <a:avLst/>
          </a:prstGeom>
        </p:spPr>
        <p:txBody>
          <a:bodyPr wrap="square">
            <a:spAutoFit/>
          </a:bodyPr>
          <a:lstStyle/>
          <a:p>
            <a:r>
              <a:rPr lang="en-IN" dirty="0"/>
              <a:t>Methodology</a:t>
            </a:r>
          </a:p>
          <a:p>
            <a:endParaRPr lang="en-IN" sz="1600" dirty="0"/>
          </a:p>
          <a:p>
            <a:r>
              <a:rPr lang="en-IN" sz="1600" dirty="0"/>
              <a:t>• </a:t>
            </a:r>
            <a:r>
              <a:rPr lang="en-IN" sz="1600" b="1" dirty="0"/>
              <a:t>Citizen Signal Capture</a:t>
            </a:r>
            <a:r>
              <a:rPr lang="en-IN" sz="1600" dirty="0"/>
              <a:t>: Capture voice, text and digital signals from various sources.</a:t>
            </a:r>
          </a:p>
          <a:p>
            <a:r>
              <a:rPr lang="en-IN" sz="1600" dirty="0"/>
              <a:t>• </a:t>
            </a:r>
            <a:r>
              <a:rPr lang="en-IN" sz="1600" b="1" dirty="0"/>
              <a:t>Multilingual Translation</a:t>
            </a:r>
            <a:r>
              <a:rPr lang="en-IN" sz="1600" dirty="0"/>
              <a:t>: Transcribe voice into text and determine language, intent, location and urgency.</a:t>
            </a:r>
          </a:p>
          <a:p>
            <a:r>
              <a:rPr lang="en-IN" sz="1600" dirty="0"/>
              <a:t>• </a:t>
            </a:r>
            <a:r>
              <a:rPr lang="en-IN" sz="1600" b="1" dirty="0"/>
              <a:t>Need Clustering</a:t>
            </a:r>
            <a:r>
              <a:rPr lang="en-IN" sz="1600" dirty="0"/>
              <a:t>: Cluster citizen signals based on semantics, geography and time.</a:t>
            </a:r>
          </a:p>
          <a:p>
            <a:r>
              <a:rPr lang="en-IN" sz="1600" dirty="0"/>
              <a:t>• </a:t>
            </a:r>
            <a:r>
              <a:rPr lang="en-IN" sz="1600" b="1" dirty="0"/>
              <a:t>Civic Graph</a:t>
            </a:r>
            <a:r>
              <a:rPr lang="en-IN" sz="1600" dirty="0"/>
              <a:t>: Associate citizen need clusters with physical infrastructures, public services and development plans.</a:t>
            </a:r>
          </a:p>
          <a:p>
            <a:r>
              <a:rPr lang="en-IN" sz="1600" dirty="0"/>
              <a:t>• </a:t>
            </a:r>
            <a:r>
              <a:rPr lang="en-IN" sz="1600" b="1" dirty="0"/>
              <a:t>Discovery and Detection</a:t>
            </a:r>
            <a:r>
              <a:rPr lang="en-IN" sz="1600" dirty="0"/>
              <a:t>: Detect hotspots, silent zones, anomalies and missing infrastructures.</a:t>
            </a:r>
          </a:p>
          <a:p>
            <a:r>
              <a:rPr lang="en-IN" sz="1600" dirty="0"/>
              <a:t>• </a:t>
            </a:r>
            <a:r>
              <a:rPr lang="en-IN" sz="1600" b="1" dirty="0"/>
              <a:t>Need Projection</a:t>
            </a:r>
            <a:r>
              <a:rPr lang="en-IN" sz="1600" dirty="0"/>
              <a:t>: Project future demand on service and infrastructure capacity.</a:t>
            </a:r>
          </a:p>
          <a:p>
            <a:r>
              <a:rPr lang="en-IN" sz="1600" dirty="0"/>
              <a:t>• </a:t>
            </a:r>
            <a:r>
              <a:rPr lang="en-IN" sz="1600" b="1" dirty="0"/>
              <a:t>Scenario Simulation</a:t>
            </a:r>
            <a:r>
              <a:rPr lang="en-IN" sz="1600" dirty="0"/>
              <a:t>: </a:t>
            </a:r>
            <a:r>
              <a:rPr lang="en-IN" sz="1600" dirty="0" err="1"/>
              <a:t>Analyze</a:t>
            </a:r>
            <a:r>
              <a:rPr lang="en-IN" sz="1600" dirty="0"/>
              <a:t> competing development projects, priorities and budgets.</a:t>
            </a:r>
          </a:p>
          <a:p>
            <a:r>
              <a:rPr lang="en-IN" sz="1600" dirty="0"/>
              <a:t>• </a:t>
            </a:r>
            <a:r>
              <a:rPr lang="en-IN" sz="1600" b="1" dirty="0"/>
              <a:t>Multi-Agent Evaluation</a:t>
            </a:r>
            <a:r>
              <a:rPr lang="en-IN" sz="1600" dirty="0"/>
              <a:t>: </a:t>
            </a:r>
            <a:r>
              <a:rPr lang="en-IN" sz="1600" dirty="0" err="1"/>
              <a:t>Analyze</a:t>
            </a:r>
            <a:r>
              <a:rPr lang="en-IN" sz="1600" dirty="0"/>
              <a:t> project benefits, fairness, costs and resiliency </a:t>
            </a:r>
            <a:r>
              <a:rPr lang="en-IN" sz="1600" dirty="0" err="1"/>
              <a:t>tradeoffs</a:t>
            </a:r>
            <a:r>
              <a:rPr lang="en-IN" sz="1600" dirty="0"/>
              <a:t>.</a:t>
            </a:r>
          </a:p>
          <a:p>
            <a:r>
              <a:rPr lang="en-IN" sz="1600" dirty="0"/>
              <a:t>• </a:t>
            </a:r>
            <a:r>
              <a:rPr lang="en-IN" sz="1600" b="1" dirty="0"/>
              <a:t>Human Judgment</a:t>
            </a:r>
            <a:r>
              <a:rPr lang="en-IN" sz="1600" dirty="0"/>
              <a:t>: Provide explainable analysis for informed decision-making.</a:t>
            </a:r>
          </a:p>
          <a:p>
            <a:r>
              <a:rPr lang="en-IN" sz="1600" dirty="0"/>
              <a:t>• </a:t>
            </a:r>
            <a:r>
              <a:rPr lang="en-IN" sz="1600" b="1" dirty="0"/>
              <a:t>Impact Verification</a:t>
            </a:r>
            <a:r>
              <a:rPr lang="en-IN" sz="1600" dirty="0"/>
              <a:t>: Validate impact and produce evidence-based Impact Receipts.</a:t>
            </a:r>
          </a:p>
          <a:p>
            <a:endParaRPr lang="en-IN" sz="1600" dirty="0"/>
          </a:p>
        </p:txBody>
      </p:sp>
      <p:sp>
        <p:nvSpPr>
          <p:cNvPr id="20" name="Rectangle 19"/>
          <p:cNvSpPr/>
          <p:nvPr/>
        </p:nvSpPr>
        <p:spPr>
          <a:xfrm>
            <a:off x="6400800" y="864023"/>
            <a:ext cx="5579533" cy="553997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p:cNvSpPr/>
          <p:nvPr/>
        </p:nvSpPr>
        <p:spPr>
          <a:xfrm>
            <a:off x="315120" y="6473251"/>
            <a:ext cx="11565467" cy="323165"/>
          </a:xfrm>
          <a:prstGeom prst="rect">
            <a:avLst/>
          </a:prstGeom>
          <a:ln>
            <a:solidFill>
              <a:schemeClr val="tx1"/>
            </a:solidFill>
          </a:ln>
        </p:spPr>
        <p:txBody>
          <a:bodyPr wrap="square">
            <a:spAutoFit/>
          </a:bodyPr>
          <a:lstStyle/>
          <a:p>
            <a:r>
              <a:rPr lang="en-IN" sz="1500" dirty="0"/>
              <a:t>Citizen Voice → AI Understanding → Graph Intelligence → Prediction → Simulation → Human Decision → Verified Impact → Continuous Learning</a:t>
            </a:r>
          </a:p>
        </p:txBody>
      </p:sp>
    </p:spTree>
    <p:extLst>
      <p:ext uri="{BB962C8B-B14F-4D97-AF65-F5344CB8AC3E}">
        <p14:creationId xmlns:p14="http://schemas.microsoft.com/office/powerpoint/2010/main" val="3152586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8" y="0"/>
            <a:ext cx="12188761" cy="6859822"/>
          </a:xfrm>
          <a:prstGeom prst="rect">
            <a:avLst/>
          </a:prstGeom>
        </p:spPr>
      </p:pic>
    </p:spTree>
    <p:extLst>
      <p:ext uri="{BB962C8B-B14F-4D97-AF65-F5344CB8AC3E}">
        <p14:creationId xmlns:p14="http://schemas.microsoft.com/office/powerpoint/2010/main" val="2253763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4"/>
          <p:cNvSpPr txBox="1">
            <a:spLocks noGrp="1"/>
          </p:cNvSpPr>
          <p:nvPr>
            <p:ph type="title"/>
          </p:nvPr>
        </p:nvSpPr>
        <p:spPr>
          <a:xfrm>
            <a:off x="902721" y="151577"/>
            <a:ext cx="10058400" cy="743829"/>
          </a:xfrm>
          <a:prstGeom prst="rect">
            <a:avLst/>
          </a:prstGeom>
          <a:gradFill>
            <a:gsLst>
              <a:gs pos="0">
                <a:srgbClr val="F0AF8D"/>
              </a:gs>
              <a:gs pos="45000">
                <a:srgbClr val="F4BCA0"/>
              </a:gs>
              <a:gs pos="100000">
                <a:srgbClr val="FDC2A5"/>
              </a:gs>
            </a:gsLst>
            <a:path path="circle">
              <a:fillToRect l="50000" t="50000" r="50000" b="50000"/>
            </a:path>
            <a:tileRect/>
          </a:gradFill>
          <a:ln w="12700" cap="flat" cmpd="sng">
            <a:solidFill>
              <a:schemeClr val="accent1"/>
            </a:solidFill>
            <a:prstDash val="solid"/>
            <a:round/>
            <a:headEnd type="none" w="sm" len="sm"/>
            <a:tailEnd type="none" w="sm" len="sm"/>
          </a:ln>
        </p:spPr>
        <p:txBody>
          <a:bodyPr spcFirstLastPara="1" wrap="square" lIns="91425" tIns="45700" rIns="91425" bIns="45700" anchor="b" anchorCtr="0">
            <a:normAutofit/>
          </a:bodyPr>
          <a:lstStyle/>
          <a:p>
            <a:pPr lvl="0" algn="ctr">
              <a:lnSpc>
                <a:spcPct val="85000"/>
              </a:lnSpc>
              <a:spcBef>
                <a:spcPts val="0"/>
              </a:spcBef>
              <a:buClr>
                <a:schemeClr val="dk1"/>
              </a:buClr>
              <a:buSzPts val="4800"/>
            </a:pPr>
            <a:r>
              <a:rPr lang="en-US" sz="4000" b="1" dirty="0" smtClean="0">
                <a:latin typeface="+mn-lt"/>
              </a:rPr>
              <a:t>INNOVATION AND CREATIVITY OF IDEA</a:t>
            </a:r>
            <a:endParaRPr lang="en-IN" sz="4000" b="1" dirty="0">
              <a:latin typeface="+mn-lt"/>
            </a:endParaRPr>
          </a:p>
        </p:txBody>
      </p:sp>
      <p:graphicFrame>
        <p:nvGraphicFramePr>
          <p:cNvPr id="3" name="Table 2"/>
          <p:cNvGraphicFramePr>
            <a:graphicFrameLocks noGrp="1"/>
          </p:cNvGraphicFramePr>
          <p:nvPr>
            <p:extLst>
              <p:ext uri="{D42A27DB-BD31-4B8C-83A1-F6EECF244321}">
                <p14:modId xmlns:p14="http://schemas.microsoft.com/office/powerpoint/2010/main" val="707310358"/>
              </p:ext>
            </p:extLst>
          </p:nvPr>
        </p:nvGraphicFramePr>
        <p:xfrm>
          <a:off x="325382" y="1062445"/>
          <a:ext cx="11348546" cy="5626222"/>
        </p:xfrm>
        <a:graphic>
          <a:graphicData uri="http://schemas.openxmlformats.org/drawingml/2006/table">
            <a:tbl>
              <a:tblPr/>
              <a:tblGrid>
                <a:gridCol w="5674273"/>
                <a:gridCol w="5674273"/>
              </a:tblGrid>
              <a:tr h="293708">
                <a:tc>
                  <a:txBody>
                    <a:bodyPr/>
                    <a:lstStyle/>
                    <a:p>
                      <a:r>
                        <a:rPr lang="en-IN" sz="1400" b="1" dirty="0"/>
                        <a:t>INNOVATION</a:t>
                      </a:r>
                      <a:endParaRPr lang="en-IN" sz="1400" dirty="0"/>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IN" sz="1400" b="1"/>
                        <a:t>WHAT MAKES JANAVYUH DISTINCT</a:t>
                      </a:r>
                      <a:endParaRPr lang="en-IN" sz="1400"/>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619147">
                <a:tc>
                  <a:txBody>
                    <a:bodyPr/>
                    <a:lstStyle/>
                    <a:p>
                      <a:r>
                        <a:rPr lang="en-IN" sz="1400" b="1"/>
                        <a:t>Multichannel Citizen Intelligence</a:t>
                      </a:r>
                      <a:endParaRPr lang="en-IN" sz="1400"/>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400" dirty="0"/>
                        <a:t>Unifies voice, WhatsApp, IVR, SMS, Web and kiosk inputs into one civic evidence layer.</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619147">
                <a:tc>
                  <a:txBody>
                    <a:bodyPr/>
                    <a:lstStyle/>
                    <a:p>
                      <a:r>
                        <a:rPr lang="en-IN" sz="1400" b="1"/>
                        <a:t>Civic Need Graph</a:t>
                      </a:r>
                      <a:endParaRPr lang="en-IN" sz="1400"/>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400" dirty="0"/>
                        <a:t>Connects citizen needs with locations, infrastructure, services, demographics and projects.</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808816">
                <a:tc>
                  <a:txBody>
                    <a:bodyPr/>
                    <a:lstStyle/>
                    <a:p>
                      <a:r>
                        <a:rPr lang="en-IN" sz="1400" b="1"/>
                        <a:t>Silent-Zone Intelligence</a:t>
                      </a:r>
                      <a:endParaRPr lang="en-IN" sz="1400"/>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400"/>
                        <a:t>Detects areas with low reporting but potential infrastructure/service gaps, reducing dependence on complaint volume alone.</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619147">
                <a:tc>
                  <a:txBody>
                    <a:bodyPr/>
                    <a:lstStyle/>
                    <a:p>
                      <a:r>
                        <a:rPr lang="en-IN" sz="1400" b="1"/>
                        <a:t>Living Civic Digital Twin</a:t>
                      </a:r>
                      <a:endParaRPr lang="en-IN" sz="1400"/>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400"/>
                        <a:t>Maintains a changing regional view of needs, assets, projects, investments and outcomes.</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808816">
                <a:tc>
                  <a:txBody>
                    <a:bodyPr/>
                    <a:lstStyle/>
                    <a:p>
                      <a:r>
                        <a:rPr lang="en-IN" sz="1400" b="1"/>
                        <a:t>Counterfactual Policy Simulation</a:t>
                      </a:r>
                      <a:endParaRPr lang="en-IN" sz="1400"/>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400"/>
                        <a:t>Tests alternative projects and budget scenarios before implementation to compare expected outcomes and trade-offs.</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619147">
                <a:tc>
                  <a:txBody>
                    <a:bodyPr/>
                    <a:lstStyle/>
                    <a:p>
                      <a:r>
                        <a:rPr lang="en-IN" sz="1400" b="1" dirty="0"/>
                        <a:t>Multi-Agent Policy Arena</a:t>
                      </a:r>
                      <a:endParaRPr lang="en-IN" sz="1400" dirty="0"/>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400"/>
                        <a:t>Separately evaluates impact, equity, budget and resilience before presenting an evidence-based decision view.</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619147">
                <a:tc>
                  <a:txBody>
                    <a:bodyPr/>
                    <a:lstStyle/>
                    <a:p>
                      <a:r>
                        <a:rPr lang="en-IN" sz="1400" b="1"/>
                        <a:t>Impact Receipt</a:t>
                      </a:r>
                      <a:endParaRPr lang="en-IN" sz="1400"/>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400"/>
                        <a:t>Links project implementation with post-project evidence instead of stopping at “project completed.”</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619147">
                <a:tc>
                  <a:txBody>
                    <a:bodyPr/>
                    <a:lstStyle/>
                    <a:p>
                      <a:r>
                        <a:rPr lang="en-IN" sz="1400" b="1" dirty="0"/>
                        <a:t>Sovereign BRICS Architecture</a:t>
                      </a:r>
                      <a:endParaRPr lang="en-IN" sz="1400" dirty="0"/>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400" dirty="0"/>
                        <a:t>Supports country-local data nodes, shared civic ontology and federation without requiring centralized citizen-data storage.</a:t>
                      </a:r>
                    </a:p>
                  </a:txBody>
                  <a:tcPr marL="60435" marR="60435" marT="30218" marB="302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bl>
          </a:graphicData>
        </a:graphic>
      </p:graphicFrame>
    </p:spTree>
    <p:extLst>
      <p:ext uri="{BB962C8B-B14F-4D97-AF65-F5344CB8AC3E}">
        <p14:creationId xmlns:p14="http://schemas.microsoft.com/office/powerpoint/2010/main" val="1474048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4"/>
          <p:cNvSpPr txBox="1">
            <a:spLocks noGrp="1"/>
          </p:cNvSpPr>
          <p:nvPr>
            <p:ph type="title"/>
          </p:nvPr>
        </p:nvSpPr>
        <p:spPr>
          <a:xfrm>
            <a:off x="899013" y="176977"/>
            <a:ext cx="10058400" cy="743829"/>
          </a:xfrm>
          <a:prstGeom prst="rect">
            <a:avLst/>
          </a:prstGeom>
          <a:gradFill>
            <a:gsLst>
              <a:gs pos="0">
                <a:srgbClr val="F0AF8D"/>
              </a:gs>
              <a:gs pos="45000">
                <a:srgbClr val="F4BCA0"/>
              </a:gs>
              <a:gs pos="100000">
                <a:srgbClr val="FDC2A5"/>
              </a:gs>
            </a:gsLst>
            <a:path path="circle">
              <a:fillToRect l="50000" t="50000" r="50000" b="50000"/>
            </a:path>
            <a:tileRect/>
          </a:gradFill>
          <a:ln w="12700" cap="flat" cmpd="sng">
            <a:solidFill>
              <a:schemeClr val="accent1"/>
            </a:solidFill>
            <a:prstDash val="solid"/>
            <a:round/>
            <a:headEnd type="none" w="sm" len="sm"/>
            <a:tailEnd type="none" w="sm" len="sm"/>
          </a:ln>
        </p:spPr>
        <p:txBody>
          <a:bodyPr spcFirstLastPara="1" wrap="square" lIns="91425" tIns="45700" rIns="91425" bIns="45700" anchor="b" anchorCtr="0">
            <a:normAutofit/>
          </a:bodyPr>
          <a:lstStyle/>
          <a:p>
            <a:pPr lvl="0" algn="ctr">
              <a:lnSpc>
                <a:spcPct val="85000"/>
              </a:lnSpc>
              <a:spcBef>
                <a:spcPts val="0"/>
              </a:spcBef>
              <a:buClr>
                <a:schemeClr val="dk1"/>
              </a:buClr>
              <a:buSzPts val="4800"/>
            </a:pPr>
            <a:r>
              <a:rPr lang="en-US" b="1" dirty="0" smtClean="0">
                <a:latin typeface="+mn-lt"/>
              </a:rPr>
              <a:t>IMPACT &amp; BENIFIT</a:t>
            </a:r>
            <a:endParaRPr lang="en-IN" b="1" dirty="0">
              <a:latin typeface="+mn-lt"/>
            </a:endParaRPr>
          </a:p>
        </p:txBody>
      </p:sp>
      <p:graphicFrame>
        <p:nvGraphicFramePr>
          <p:cNvPr id="3" name="Table 2"/>
          <p:cNvGraphicFramePr>
            <a:graphicFrameLocks noGrp="1"/>
          </p:cNvGraphicFramePr>
          <p:nvPr>
            <p:extLst>
              <p:ext uri="{D42A27DB-BD31-4B8C-83A1-F6EECF244321}">
                <p14:modId xmlns:p14="http://schemas.microsoft.com/office/powerpoint/2010/main" val="1071698797"/>
              </p:ext>
            </p:extLst>
          </p:nvPr>
        </p:nvGraphicFramePr>
        <p:xfrm>
          <a:off x="186267" y="1269948"/>
          <a:ext cx="7145865" cy="5511852"/>
        </p:xfrm>
        <a:graphic>
          <a:graphicData uri="http://schemas.openxmlformats.org/drawingml/2006/table">
            <a:tbl>
              <a:tblPr/>
              <a:tblGrid>
                <a:gridCol w="2381955"/>
                <a:gridCol w="2381955"/>
                <a:gridCol w="2381955"/>
              </a:tblGrid>
              <a:tr h="363056">
                <a:tc>
                  <a:txBody>
                    <a:bodyPr/>
                    <a:lstStyle/>
                    <a:p>
                      <a:r>
                        <a:rPr lang="en-IN" sz="1600" b="1" dirty="0"/>
                        <a:t>SOCIAL IMPACT</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IN" sz="1600" b="1"/>
                        <a:t>ECONOMIC IMPACT</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IN" sz="1600" b="1"/>
                        <a:t>TECHNICAL IMPACT</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r>
              <a:tr h="1419219">
                <a:tc>
                  <a:txBody>
                    <a:bodyPr/>
                    <a:lstStyle/>
                    <a:p>
                      <a:r>
                        <a:rPr lang="en-US" sz="1600" b="1"/>
                        <a:t>Inclusive Citizen Participation</a:t>
                      </a:r>
                      <a:r>
                        <a:rPr lang="en-US" sz="1600"/>
                        <a:t> — Voice and multilingual channels make reporting more accessible.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sz="1600" b="1"/>
                        <a:t>Better Resource Allocation</a:t>
                      </a:r>
                      <a:r>
                        <a:rPr lang="en-US" sz="1600"/>
                        <a:t> — Connects needs with budgets and infrastructure priorities.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sz="1600" b="1"/>
                        <a:t>Multilingual Civic AI</a:t>
                      </a:r>
                      <a:r>
                        <a:rPr lang="en-US" sz="1600"/>
                        <a:t> — Processes voice, text and regional-language inputs.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r>
              <a:tr h="1155179">
                <a:tc>
                  <a:txBody>
                    <a:bodyPr/>
                    <a:lstStyle/>
                    <a:p>
                      <a:r>
                        <a:rPr lang="en-US" sz="1600" b="1"/>
                        <a:t>Hidden Needs Visibility</a:t>
                      </a:r>
                      <a:r>
                        <a:rPr lang="en-US" sz="1600"/>
                        <a:t> — Silent zones help surface under-reported service gaps.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sz="1600" b="1"/>
                        <a:t>Reduced Planning Friction</a:t>
                      </a:r>
                      <a:r>
                        <a:rPr lang="en-US" sz="1600"/>
                        <a:t> — Unifies fragmented evidence for faster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sz="1600" b="1" dirty="0"/>
                        <a:t>Civic Knowledge Graph</a:t>
                      </a:r>
                      <a:r>
                        <a:rPr lang="en-US" sz="1600" dirty="0"/>
                        <a:t> — Links people, needs, assets, services and projects.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r>
              <a:tr h="1155179">
                <a:tc>
                  <a:txBody>
                    <a:bodyPr/>
                    <a:lstStyle/>
                    <a:p>
                      <a:r>
                        <a:rPr lang="en-US" sz="1600" b="1"/>
                        <a:t>Greater Transparency</a:t>
                      </a:r>
                      <a:r>
                        <a:rPr lang="en-US" sz="1600"/>
                        <a:t> — Citizens can track progress from request to outcome.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sz="1600" b="1"/>
                        <a:t>Future-Ready Planning</a:t>
                      </a:r>
                      <a:r>
                        <a:rPr lang="en-US" sz="1600"/>
                        <a:t> — Forecasting helps identify emerging infrastructure demand.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sz="1600" b="1"/>
                        <a:t>Predictive &amp; Scenario Intelligence</a:t>
                      </a:r>
                      <a:r>
                        <a:rPr lang="en-US" sz="1600"/>
                        <a:t> — Forecasts demand and compares interventions.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r>
              <a:tr h="1419219">
                <a:tc>
                  <a:txBody>
                    <a:bodyPr/>
                    <a:lstStyle/>
                    <a:p>
                      <a:r>
                        <a:rPr lang="en-US" sz="1600" b="1" dirty="0"/>
                        <a:t>Outcome-Based Accountability</a:t>
                      </a:r>
                      <a:r>
                        <a:rPr lang="en-US" sz="1600" dirty="0"/>
                        <a:t> — Impact Receipts connect projects to measurable outcomes.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sz="1600" b="1" dirty="0"/>
                        <a:t>Portfolio-Level Decisions</a:t>
                      </a:r>
                      <a:r>
                        <a:rPr lang="en-US" sz="1600" dirty="0"/>
                        <a:t> — Compare multiple projects and budget scenarios.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sz="1600" b="1" dirty="0"/>
                        <a:t>Sovereign Architecture</a:t>
                      </a:r>
                      <a:r>
                        <a:rPr lang="en-US" sz="1600" dirty="0"/>
                        <a:t> — Supports country-local data governance and federation.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r>
            </a:tbl>
          </a:graphicData>
        </a:graphic>
      </p:graphicFrame>
      <p:sp>
        <p:nvSpPr>
          <p:cNvPr id="5" name="Rounded Rectangle 4"/>
          <p:cNvSpPr/>
          <p:nvPr/>
        </p:nvSpPr>
        <p:spPr>
          <a:xfrm>
            <a:off x="7696198" y="1566282"/>
            <a:ext cx="3826933" cy="1921934"/>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TARGET AUDIENCE </a:t>
            </a:r>
            <a:endParaRPr lang="en-US" b="1" dirty="0" smtClean="0">
              <a:solidFill>
                <a:schemeClr val="tx1"/>
              </a:solidFill>
            </a:endParaRPr>
          </a:p>
          <a:p>
            <a:r>
              <a:rPr lang="en-US" b="1" dirty="0" smtClean="0">
                <a:solidFill>
                  <a:schemeClr val="tx1"/>
                </a:solidFill>
              </a:rPr>
              <a:t>PRIMARY</a:t>
            </a:r>
            <a:endParaRPr lang="en-US" b="1" dirty="0">
              <a:solidFill>
                <a:schemeClr val="tx1"/>
              </a:solidFill>
            </a:endParaRPr>
          </a:p>
          <a:p>
            <a:endParaRPr lang="en-US" dirty="0">
              <a:solidFill>
                <a:schemeClr val="tx1"/>
              </a:solidFill>
            </a:endParaRPr>
          </a:p>
          <a:p>
            <a:pPr>
              <a:buFont typeface="Arial" panose="020B0604020202020204" pitchFamily="34" charset="0"/>
              <a:buChar char="•"/>
            </a:pPr>
            <a:r>
              <a:rPr lang="en-US" dirty="0">
                <a:solidFill>
                  <a:schemeClr val="tx1"/>
                </a:solidFill>
              </a:rPr>
              <a:t>Government &amp; Policy Makers </a:t>
            </a:r>
          </a:p>
          <a:p>
            <a:pPr>
              <a:buFont typeface="Arial" panose="020B0604020202020204" pitchFamily="34" charset="0"/>
              <a:buChar char="•"/>
            </a:pPr>
            <a:r>
              <a:rPr lang="en-US" dirty="0">
                <a:solidFill>
                  <a:schemeClr val="tx1"/>
                </a:solidFill>
              </a:rPr>
              <a:t>Government Departments </a:t>
            </a:r>
          </a:p>
          <a:p>
            <a:pPr>
              <a:buFont typeface="Arial" panose="020B0604020202020204" pitchFamily="34" charset="0"/>
              <a:buChar char="•"/>
            </a:pPr>
            <a:r>
              <a:rPr lang="en-US" dirty="0">
                <a:solidFill>
                  <a:schemeClr val="tx1"/>
                </a:solidFill>
              </a:rPr>
              <a:t>Planning &amp; Investment Teams </a:t>
            </a:r>
          </a:p>
        </p:txBody>
      </p:sp>
      <p:sp>
        <p:nvSpPr>
          <p:cNvPr id="6" name="Rounded Rectangle 5"/>
          <p:cNvSpPr/>
          <p:nvPr/>
        </p:nvSpPr>
        <p:spPr>
          <a:xfrm>
            <a:off x="7696199" y="3938708"/>
            <a:ext cx="3826933" cy="1606959"/>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SECONDARY</a:t>
            </a:r>
          </a:p>
          <a:p>
            <a:endParaRPr lang="en-US" dirty="0">
              <a:solidFill>
                <a:schemeClr val="tx1"/>
              </a:solidFill>
            </a:endParaRPr>
          </a:p>
          <a:p>
            <a:pPr>
              <a:buFont typeface="Arial" panose="020B0604020202020204" pitchFamily="34" charset="0"/>
              <a:buChar char="•"/>
            </a:pPr>
            <a:r>
              <a:rPr lang="en-US" dirty="0">
                <a:solidFill>
                  <a:schemeClr val="tx1"/>
                </a:solidFill>
              </a:rPr>
              <a:t>Citizens &amp; Communities </a:t>
            </a:r>
          </a:p>
          <a:p>
            <a:pPr>
              <a:buFont typeface="Arial" panose="020B0604020202020204" pitchFamily="34" charset="0"/>
              <a:buChar char="•"/>
            </a:pPr>
            <a:r>
              <a:rPr lang="en-US" dirty="0">
                <a:solidFill>
                  <a:schemeClr val="tx1"/>
                </a:solidFill>
              </a:rPr>
              <a:t>Municipal &amp; Local Bodies </a:t>
            </a:r>
          </a:p>
          <a:p>
            <a:pPr>
              <a:buFont typeface="Arial" panose="020B0604020202020204" pitchFamily="34" charset="0"/>
              <a:buChar char="•"/>
            </a:pPr>
            <a:r>
              <a:rPr lang="en-US" dirty="0">
                <a:solidFill>
                  <a:schemeClr val="tx1"/>
                </a:solidFill>
              </a:rPr>
              <a:t>BRICS Public-Infrastructure Partners</a:t>
            </a:r>
            <a:endParaRPr lang="en-US" dirty="0">
              <a:solidFill>
                <a:schemeClr val="tx1"/>
              </a:solidFill>
            </a:endParaRPr>
          </a:p>
        </p:txBody>
      </p:sp>
      <p:sp>
        <p:nvSpPr>
          <p:cNvPr id="7" name="Rectangle 6"/>
          <p:cNvSpPr/>
          <p:nvPr/>
        </p:nvSpPr>
        <p:spPr>
          <a:xfrm>
            <a:off x="7696200" y="5837535"/>
            <a:ext cx="4292600" cy="830997"/>
          </a:xfrm>
          <a:prstGeom prst="rect">
            <a:avLst/>
          </a:prstGeom>
          <a:ln>
            <a:solidFill>
              <a:schemeClr val="tx1"/>
            </a:solidFill>
          </a:ln>
        </p:spPr>
        <p:txBody>
          <a:bodyPr wrap="square">
            <a:spAutoFit/>
          </a:bodyPr>
          <a:lstStyle/>
          <a:p>
            <a:r>
              <a:rPr lang="en-US" sz="1600" b="1" dirty="0"/>
              <a:t>CORE ECOSYSTEM</a:t>
            </a:r>
          </a:p>
          <a:p>
            <a:r>
              <a:rPr lang="en-US" sz="1600" b="1" dirty="0"/>
              <a:t>Citizens → Local Bodies → Departments → Policy Makers → Verified Public Impact</a:t>
            </a:r>
            <a:endParaRPr lang="en-US" sz="1600" dirty="0"/>
          </a:p>
        </p:txBody>
      </p:sp>
    </p:spTree>
    <p:extLst>
      <p:ext uri="{BB962C8B-B14F-4D97-AF65-F5344CB8AC3E}">
        <p14:creationId xmlns:p14="http://schemas.microsoft.com/office/powerpoint/2010/main" val="3567902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152;p24"/>
          <p:cNvSpPr txBox="1">
            <a:spLocks/>
          </p:cNvSpPr>
          <p:nvPr/>
        </p:nvSpPr>
        <p:spPr>
          <a:xfrm>
            <a:off x="970455" y="160044"/>
            <a:ext cx="10058400" cy="743829"/>
          </a:xfrm>
          <a:prstGeom prst="rect">
            <a:avLst/>
          </a:prstGeom>
          <a:gradFill>
            <a:gsLst>
              <a:gs pos="0">
                <a:srgbClr val="F0AF8D"/>
              </a:gs>
              <a:gs pos="45000">
                <a:srgbClr val="F4BCA0"/>
              </a:gs>
              <a:gs pos="100000">
                <a:srgbClr val="FDC2A5"/>
              </a:gs>
            </a:gsLst>
            <a:path path="circle">
              <a:fillToRect l="50000" t="50000" r="50000" b="50000"/>
            </a:path>
            <a:tileRect/>
          </a:gradFill>
          <a:ln w="12700" cap="flat" cmpd="sng">
            <a:solidFill>
              <a:schemeClr val="accent1"/>
            </a:solidFill>
            <a:prstDash val="solid"/>
            <a:round/>
            <a:headEnd type="none" w="sm" len="sm"/>
            <a:tailEnd type="none" w="sm" len="sm"/>
          </a:ln>
        </p:spPr>
        <p:txBody>
          <a:bodyPr spcFirstLastPara="1" vert="horz" wrap="square" lIns="91425" tIns="45700" rIns="91425" bIns="45700" rtlCol="0" anchor="b" anchorCtr="0">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85000"/>
              </a:lnSpc>
              <a:spcBef>
                <a:spcPts val="0"/>
              </a:spcBef>
              <a:buClr>
                <a:schemeClr val="dk1"/>
              </a:buClr>
              <a:buSzPts val="4800"/>
            </a:pPr>
            <a:r>
              <a:rPr lang="en-US" sz="4000" b="1" dirty="0" smtClean="0">
                <a:latin typeface="+mn-lt"/>
              </a:rPr>
              <a:t>RESEARCH &amp; REFERENCE</a:t>
            </a:r>
            <a:endParaRPr lang="en-IN" sz="4000" b="1" dirty="0">
              <a:latin typeface="+mn-lt"/>
            </a:endParaRPr>
          </a:p>
        </p:txBody>
      </p:sp>
      <p:sp>
        <p:nvSpPr>
          <p:cNvPr id="4" name="Rectangle 3"/>
          <p:cNvSpPr/>
          <p:nvPr/>
        </p:nvSpPr>
        <p:spPr>
          <a:xfrm>
            <a:off x="423333" y="1393609"/>
            <a:ext cx="7323667" cy="5078313"/>
          </a:xfrm>
          <a:prstGeom prst="rect">
            <a:avLst/>
          </a:prstGeom>
        </p:spPr>
        <p:txBody>
          <a:bodyPr wrap="square">
            <a:spAutoFit/>
          </a:bodyPr>
          <a:lstStyle/>
          <a:p>
            <a:r>
              <a:rPr lang="en-IN" sz="2000" b="1" dirty="0"/>
              <a:t>RESEARCH</a:t>
            </a:r>
          </a:p>
          <a:p>
            <a:endParaRPr lang="en-IN" sz="1600" dirty="0"/>
          </a:p>
          <a:p>
            <a:pPr marL="285750" indent="-285750">
              <a:buFont typeface="Arial" panose="020B0604020202020204" pitchFamily="34" charset="0"/>
              <a:buChar char="•"/>
            </a:pPr>
            <a:r>
              <a:rPr lang="en-IN" sz="1600" dirty="0"/>
              <a:t>Citizen Engagement &amp; Responsive Governance – Research suggests that organized citizen engagement will help in increasing transparency and service delivery, as well as improving responsiveness.</a:t>
            </a:r>
          </a:p>
          <a:p>
            <a:endParaRPr lang="en-IN" sz="1600" dirty="0"/>
          </a:p>
          <a:p>
            <a:pPr marL="285750" indent="-285750">
              <a:buFont typeface="Arial" panose="020B0604020202020204" pitchFamily="34" charset="0"/>
              <a:buChar char="•"/>
            </a:pPr>
            <a:r>
              <a:rPr lang="en-IN" sz="1600" dirty="0"/>
              <a:t>Multilingual &amp; Voice-based Access – </a:t>
            </a:r>
            <a:r>
              <a:rPr lang="en-IN" sz="1600" dirty="0" err="1"/>
              <a:t>Bhashini</a:t>
            </a:r>
            <a:r>
              <a:rPr lang="en-IN" sz="1600" dirty="0"/>
              <a:t> project reflects on how language and digital barriers can be overcome through the use of artificial intelligence-powered language technology, allowing access in Indian languages.</a:t>
            </a:r>
          </a:p>
          <a:p>
            <a:endParaRPr lang="en-IN" sz="1600" dirty="0"/>
          </a:p>
          <a:p>
            <a:pPr marL="285750" indent="-285750">
              <a:buFont typeface="Arial" panose="020B0604020202020204" pitchFamily="34" charset="0"/>
              <a:buChar char="•"/>
            </a:pPr>
            <a:r>
              <a:rPr lang="en-IN" sz="1600" dirty="0"/>
              <a:t>Whole-of-Government Digital Infrastructure – Digital government research includes interoperability, citizen engagement, and service delivery as essential features of mature digital government.</a:t>
            </a:r>
          </a:p>
          <a:p>
            <a:endParaRPr lang="en-IN" sz="1600" dirty="0"/>
          </a:p>
          <a:p>
            <a:pPr marL="285750" indent="-285750">
              <a:buFont typeface="Arial" panose="020B0604020202020204" pitchFamily="34" charset="0"/>
              <a:buChar char="•"/>
            </a:pPr>
            <a:r>
              <a:rPr lang="en-IN" sz="1600" dirty="0"/>
              <a:t>Data-driven Civic Intelligence – </a:t>
            </a:r>
            <a:r>
              <a:rPr lang="en-IN" sz="1600" dirty="0" err="1"/>
              <a:t>Janavvyuh</a:t>
            </a:r>
            <a:r>
              <a:rPr lang="en-IN" sz="1600" dirty="0"/>
              <a:t> incorporates citizens' inputs with infrastructure, demographic, geospatial, and investment data for facilitating the process of connected analysis instead of disconnected feedback analysis.</a:t>
            </a:r>
          </a:p>
          <a:p>
            <a:endParaRPr lang="en-IN" sz="1600" dirty="0"/>
          </a:p>
          <a:p>
            <a:pPr marL="285750" indent="-285750">
              <a:buFont typeface="Arial" panose="020B0604020202020204" pitchFamily="34" charset="0"/>
              <a:buChar char="•"/>
            </a:pPr>
            <a:r>
              <a:rPr lang="en-IN" sz="1600" dirty="0"/>
              <a:t>Digital Public Good Principles – The architecture takes into account such principles of DPG as open standards, privacy, documentation, platform independence, etc.</a:t>
            </a:r>
          </a:p>
        </p:txBody>
      </p:sp>
      <p:sp>
        <p:nvSpPr>
          <p:cNvPr id="7" name="Rounded Rectangle 6"/>
          <p:cNvSpPr/>
          <p:nvPr/>
        </p:nvSpPr>
        <p:spPr>
          <a:xfrm>
            <a:off x="177800" y="1159933"/>
            <a:ext cx="7713133" cy="554566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ounded Rectangle 7"/>
          <p:cNvSpPr/>
          <p:nvPr/>
        </p:nvSpPr>
        <p:spPr>
          <a:xfrm>
            <a:off x="7992534" y="1159933"/>
            <a:ext cx="4106333" cy="511193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p:cNvSpPr/>
          <p:nvPr/>
        </p:nvSpPr>
        <p:spPr>
          <a:xfrm>
            <a:off x="8136466" y="1393609"/>
            <a:ext cx="3941234" cy="4878259"/>
          </a:xfrm>
          <a:prstGeom prst="rect">
            <a:avLst/>
          </a:prstGeom>
        </p:spPr>
        <p:txBody>
          <a:bodyPr wrap="square">
            <a:spAutoFit/>
          </a:bodyPr>
          <a:lstStyle/>
          <a:p>
            <a:r>
              <a:rPr lang="en-IN" b="1" dirty="0" smtClean="0"/>
              <a:t>REFERENCES</a:t>
            </a:r>
          </a:p>
          <a:p>
            <a:endParaRPr lang="en-IN" sz="1500" b="1" dirty="0"/>
          </a:p>
          <a:p>
            <a:pPr marL="342900" indent="-342900">
              <a:buAutoNum type="arabicPeriod"/>
            </a:pPr>
            <a:r>
              <a:rPr lang="en-IN" sz="1500" b="1" dirty="0" smtClean="0"/>
              <a:t>World </a:t>
            </a:r>
            <a:r>
              <a:rPr lang="en-IN" sz="1500" b="1" dirty="0"/>
              <a:t>Bank – Citizen Engagement &amp; CIVIC Digital</a:t>
            </a:r>
            <a:r>
              <a:rPr lang="en-IN" sz="1500" dirty="0"/>
              <a:t/>
            </a:r>
            <a:br>
              <a:rPr lang="en-IN" sz="1500" dirty="0"/>
            </a:br>
            <a:r>
              <a:rPr lang="en-IN" sz="1600" dirty="0">
                <a:hlinkClick r:id="rId2"/>
              </a:rPr>
              <a:t>https://</a:t>
            </a:r>
            <a:r>
              <a:rPr lang="en-IN" sz="1600" dirty="0" smtClean="0">
                <a:hlinkClick r:id="rId2"/>
              </a:rPr>
              <a:t>www.worldbank.org/ext/en/topic/social-development/citizen-engagement</a:t>
            </a:r>
            <a:endParaRPr lang="en-IN" sz="1600" dirty="0" smtClean="0"/>
          </a:p>
          <a:p>
            <a:pPr marL="342900" indent="-342900">
              <a:buAutoNum type="arabicPeriod"/>
            </a:pPr>
            <a:r>
              <a:rPr lang="en-IN" sz="1500" b="1" dirty="0" smtClean="0"/>
              <a:t>World </a:t>
            </a:r>
            <a:r>
              <a:rPr lang="en-IN" sz="1500" b="1" dirty="0"/>
              <a:t>Bank – </a:t>
            </a:r>
            <a:r>
              <a:rPr lang="en-IN" sz="1500" b="1" dirty="0" err="1"/>
              <a:t>GovTech</a:t>
            </a:r>
            <a:r>
              <a:rPr lang="en-IN" sz="1500" b="1" dirty="0"/>
              <a:t> Maturity Index 2025</a:t>
            </a:r>
            <a:r>
              <a:rPr lang="en-IN" sz="1500" dirty="0"/>
              <a:t/>
            </a:r>
            <a:br>
              <a:rPr lang="en-IN" sz="1500" dirty="0"/>
            </a:br>
            <a:r>
              <a:rPr lang="en-IN" sz="1600" dirty="0">
                <a:hlinkClick r:id="rId3"/>
              </a:rPr>
              <a:t>https://www.worldbank.org/en/programs/govtech/gtmi-2025-update</a:t>
            </a:r>
            <a:r>
              <a:rPr lang="en-IN" sz="1600" dirty="0"/>
              <a:t> </a:t>
            </a:r>
            <a:endParaRPr lang="en-IN" sz="1600" dirty="0" smtClean="0"/>
          </a:p>
          <a:p>
            <a:pPr marL="342900" indent="-342900">
              <a:buAutoNum type="arabicPeriod"/>
            </a:pPr>
            <a:r>
              <a:rPr lang="en-IN" sz="1500" b="1" dirty="0" smtClean="0"/>
              <a:t>BHASHINI </a:t>
            </a:r>
            <a:r>
              <a:rPr lang="en-IN" sz="1500" b="1" dirty="0"/>
              <a:t>– National Language Translation Mission</a:t>
            </a:r>
            <a:r>
              <a:rPr lang="en-IN" sz="1500" dirty="0"/>
              <a:t/>
            </a:r>
            <a:br>
              <a:rPr lang="en-IN" sz="1500" dirty="0"/>
            </a:br>
            <a:r>
              <a:rPr lang="en-IN" sz="1600" dirty="0">
                <a:hlinkClick r:id="rId4"/>
              </a:rPr>
              <a:t>https://</a:t>
            </a:r>
            <a:r>
              <a:rPr lang="en-IN" sz="1600" dirty="0" smtClean="0">
                <a:hlinkClick r:id="rId4"/>
              </a:rPr>
              <a:t>bhashini.gov.in/about-bhashini</a:t>
            </a:r>
            <a:endParaRPr lang="en-IN" sz="1600" dirty="0" smtClean="0"/>
          </a:p>
          <a:p>
            <a:pPr marL="342900" indent="-342900">
              <a:buAutoNum type="arabicPeriod"/>
            </a:pPr>
            <a:r>
              <a:rPr lang="en-IN" sz="1500" b="1" dirty="0" smtClean="0"/>
              <a:t>Digital </a:t>
            </a:r>
            <a:r>
              <a:rPr lang="en-IN" sz="1500" b="1" dirty="0"/>
              <a:t>Public Goods Alliance – DPG Standard</a:t>
            </a:r>
            <a:r>
              <a:rPr lang="en-IN" sz="1500" dirty="0"/>
              <a:t/>
            </a:r>
            <a:br>
              <a:rPr lang="en-IN" sz="1500" dirty="0"/>
            </a:br>
            <a:r>
              <a:rPr lang="en-IN" sz="1600" dirty="0">
                <a:hlinkClick r:id="rId5"/>
              </a:rPr>
              <a:t>https://</a:t>
            </a:r>
            <a:r>
              <a:rPr lang="en-IN" sz="1600" dirty="0" smtClean="0">
                <a:hlinkClick r:id="rId5"/>
              </a:rPr>
              <a:t>www.digitalpublicgoods.net/standard</a:t>
            </a:r>
            <a:endParaRPr lang="en-IN" sz="1500" dirty="0"/>
          </a:p>
          <a:p>
            <a:pPr marL="342900" indent="-342900">
              <a:buAutoNum type="arabicPeriod" startAt="5"/>
            </a:pPr>
            <a:r>
              <a:rPr lang="en-IN" sz="1500" b="1" dirty="0" err="1" smtClean="0"/>
              <a:t>PostGIS</a:t>
            </a:r>
            <a:r>
              <a:rPr lang="en-IN" sz="1500" b="1" dirty="0" smtClean="0"/>
              <a:t> </a:t>
            </a:r>
            <a:r>
              <a:rPr lang="en-IN" sz="1500" b="1" dirty="0"/>
              <a:t>Documentation</a:t>
            </a:r>
            <a:r>
              <a:rPr lang="en-IN" sz="1500" dirty="0"/>
              <a:t/>
            </a:r>
            <a:br>
              <a:rPr lang="en-IN" sz="1500" dirty="0"/>
            </a:br>
            <a:r>
              <a:rPr lang="en-IN" sz="1600" dirty="0">
                <a:hlinkClick r:id="rId6"/>
              </a:rPr>
              <a:t>https://postgis.net/documentation</a:t>
            </a:r>
            <a:r>
              <a:rPr lang="en-IN" sz="1600" dirty="0" smtClean="0">
                <a:hlinkClick r:id="rId6"/>
              </a:rPr>
              <a:t>/</a:t>
            </a:r>
            <a:endParaRPr lang="en-IN" sz="1600" dirty="0" smtClean="0"/>
          </a:p>
          <a:p>
            <a:endParaRPr lang="en-IN" sz="1500" dirty="0"/>
          </a:p>
        </p:txBody>
      </p:sp>
    </p:spTree>
    <p:extLst>
      <p:ext uri="{BB962C8B-B14F-4D97-AF65-F5344CB8AC3E}">
        <p14:creationId xmlns:p14="http://schemas.microsoft.com/office/powerpoint/2010/main" val="253733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4"/>
          <p:cNvSpPr txBox="1">
            <a:spLocks noGrp="1"/>
          </p:cNvSpPr>
          <p:nvPr>
            <p:ph type="title"/>
          </p:nvPr>
        </p:nvSpPr>
        <p:spPr>
          <a:xfrm>
            <a:off x="4175921" y="3064111"/>
            <a:ext cx="3520279" cy="743829"/>
          </a:xfrm>
          <a:prstGeom prst="rect">
            <a:avLst/>
          </a:prstGeom>
          <a:gradFill>
            <a:gsLst>
              <a:gs pos="0">
                <a:srgbClr val="F0AF8D"/>
              </a:gs>
              <a:gs pos="45000">
                <a:srgbClr val="F4BCA0"/>
              </a:gs>
              <a:gs pos="100000">
                <a:srgbClr val="FDC2A5"/>
              </a:gs>
            </a:gsLst>
            <a:path path="circle">
              <a:fillToRect l="50000" t="50000" r="50000" b="50000"/>
            </a:path>
            <a:tileRect/>
          </a:gradFill>
          <a:ln w="12700" cap="flat" cmpd="sng">
            <a:solidFill>
              <a:schemeClr val="accent1"/>
            </a:solidFill>
            <a:prstDash val="solid"/>
            <a:round/>
            <a:headEnd type="none" w="sm" len="sm"/>
            <a:tailEnd type="none" w="sm" len="sm"/>
          </a:ln>
        </p:spPr>
        <p:txBody>
          <a:bodyPr spcFirstLastPara="1" wrap="square" lIns="91425" tIns="45700" rIns="91425" bIns="45700" anchor="b" anchorCtr="0">
            <a:normAutofit/>
          </a:bodyPr>
          <a:lstStyle/>
          <a:p>
            <a:pPr lvl="0" algn="ctr">
              <a:lnSpc>
                <a:spcPct val="85000"/>
              </a:lnSpc>
              <a:spcBef>
                <a:spcPts val="0"/>
              </a:spcBef>
              <a:buClr>
                <a:schemeClr val="dk1"/>
              </a:buClr>
              <a:buSzPts val="4800"/>
            </a:pPr>
            <a:r>
              <a:rPr lang="en-US" b="1" dirty="0" smtClean="0"/>
              <a:t>THANK YOU</a:t>
            </a:r>
            <a:endParaRPr lang="en-IN" b="1" dirty="0"/>
          </a:p>
        </p:txBody>
      </p:sp>
    </p:spTree>
    <p:extLst>
      <p:ext uri="{BB962C8B-B14F-4D97-AF65-F5344CB8AC3E}">
        <p14:creationId xmlns:p14="http://schemas.microsoft.com/office/powerpoint/2010/main" val="2213952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322</TotalTime>
  <Words>1257</Words>
  <Application>Microsoft Office PowerPoint</Application>
  <PresentationFormat>Widescreen</PresentationFormat>
  <Paragraphs>187</Paragraphs>
  <Slides>10</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Arial</vt:lpstr>
      <vt:lpstr>Calibri</vt:lpstr>
      <vt:lpstr>Calibri Light</vt:lpstr>
      <vt:lpstr>Google Sans</vt:lpstr>
      <vt:lpstr>Tahoma</vt:lpstr>
      <vt:lpstr>Office Theme</vt:lpstr>
      <vt:lpstr>PowerPoint Presentation</vt:lpstr>
      <vt:lpstr>PROBLEM STATEMENT </vt:lpstr>
      <vt:lpstr>PowerPoint Presentation</vt:lpstr>
      <vt:lpstr>PowerPoint Presentation</vt:lpstr>
      <vt:lpstr>TECHNOLOGY USED &amp;METHODLOGY</vt:lpstr>
      <vt:lpstr>PowerPoint Presentation</vt:lpstr>
      <vt:lpstr>INNOVATION AND CREATIVITY OF IDEA</vt:lpstr>
      <vt:lpstr>IMPACT &amp; BENIFIT</vt:lpstr>
      <vt:lpstr>PowerPoint Presentation</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27</cp:revision>
  <dcterms:created xsi:type="dcterms:W3CDTF">2026-08-09T08:39:57Z</dcterms:created>
  <dcterms:modified xsi:type="dcterms:W3CDTF">2026-09-29T11:45:30Z</dcterms:modified>
</cp:coreProperties>
</file>